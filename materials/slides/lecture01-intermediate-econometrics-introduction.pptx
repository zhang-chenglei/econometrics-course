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6" r:id="rId2"/>
  </p:sldMasterIdLst>
  <p:notesMasterIdLst>
    <p:notesMasterId r:id="rId43"/>
  </p:notesMasterIdLst>
  <p:sldIdLst>
    <p:sldId id="256" r:id="rId3"/>
    <p:sldId id="305" r:id="rId4"/>
    <p:sldId id="300" r:id="rId5"/>
    <p:sldId id="258" r:id="rId6"/>
    <p:sldId id="304" r:id="rId7"/>
    <p:sldId id="259" r:id="rId8"/>
    <p:sldId id="260" r:id="rId9"/>
    <p:sldId id="264" r:id="rId10"/>
    <p:sldId id="262" r:id="rId11"/>
    <p:sldId id="261" r:id="rId12"/>
    <p:sldId id="263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301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302" r:id="rId35"/>
    <p:sldId id="288" r:id="rId36"/>
    <p:sldId id="289" r:id="rId37"/>
    <p:sldId id="290" r:id="rId38"/>
    <p:sldId id="303" r:id="rId39"/>
    <p:sldId id="295" r:id="rId40"/>
    <p:sldId id="297" r:id="rId41"/>
    <p:sldId id="298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86"/>
  </p:normalViewPr>
  <p:slideViewPr>
    <p:cSldViewPr snapToGrid="0" snapToObjects="1">
      <p:cViewPr varScale="1">
        <p:scale>
          <a:sx n="109" d="100"/>
          <a:sy n="109" d="100"/>
        </p:scale>
        <p:origin x="112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简短欢迎，不念课程要求。</a:t>
            </a:r>
          </a:p>
          <a:p>
            <a:r>
              <a:rPr lang="zh-CN" dirty="0"/>
              <a:t>• 直接说："我们先从一只鹅开始。"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完整口头讲述鹅的故事（屏幕只有 4.915）。</a:t>
            </a:r>
          </a:p>
          <a:p>
            <a:r>
              <a:rPr lang="zh-CN" dirty="0"/>
              <a:t>• 给 30 秒独立思考 + 1 分钟同桌讨论，四选项点击后再出现，不公布答案。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C89D3-661A-22FD-19DD-22750AC9A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FCE8C-98FD-BF68-5313-0C805DDC7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FE8C05-3C01-6E44-8954-9953881A2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完整口头讲述鹅的故事（屏幕只有 4.915）。</a:t>
            </a:r>
          </a:p>
          <a:p>
            <a:r>
              <a:rPr lang="zh-CN" dirty="0"/>
              <a:t>• 给 30 秒独立思考 + 1 分钟同桌讨论，四选项点击后再出现，不公布答案。</a:t>
            </a:r>
          </a:p>
        </p:txBody>
      </p:sp>
    </p:spTree>
    <p:extLst>
      <p:ext uri="{BB962C8B-B14F-4D97-AF65-F5344CB8AC3E}">
        <p14:creationId xmlns:p14="http://schemas.microsoft.com/office/powerpoint/2010/main" val="896596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逐步点击推理链。重点补充：g=9.83 只能提示高纬度或极地附近，不能单独区分南极和北极。</a:t>
            </a:r>
          </a:p>
          <a:p>
            <a:r>
              <a:rPr lang="zh-CN" dirty="0"/>
              <a:t>• 强调结论来自"科学计算＋背景知识＋情境假设＋语言游戏"。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先停顿让学生口头回答"为什么相信"，再点出四个选项，落到"反复测量和检验"。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只讲思想转变（运动可测量→天地统一规律），不介绍生平。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对照旧的认识方式，不展开科学史人物。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核心句"今天的常识，往往是昨天科学革命的成果"。强调常识是长期科学工作的压缩结果。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落点"不仅要解释世界，还要让解释可以接受检验"。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四行对照，逐行出现。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把鹅的故事放进四层阶梯，圆点逐层向上。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核心句。三个箭头分别对应三个条件（整理比较／模型检验／背景知识假设）。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五个问题卡片，汇聚到同一个问号。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强调 g 和 β 都是"看不见、需要估计的参数"。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五个困难逐条出现，最后突出"反事实通常看不见"。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小组讨论 3 分钟 + 随机抽两组。最后高亮 B。</a:t>
            </a:r>
          </a:p>
          <a:p>
            <a:r>
              <a:rPr lang="zh-CN" dirty="0"/>
              <a:t>• 不要把题目包装成"AI 的低级错误"。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核心句"检查中间每一座桥是否可靠"。本部分收束。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三层 + 三个瓶颈（整理慢/分析难/表达耗时）。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区分聊天式 AI 与 Agent。核心句"把一次回答变成连续行动"。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数据层变化，落点"从手工操作转向任务编排"。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信息层变化，落点"从一个命令变成一个完整任务"。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知识层分工，强调"人必须主导"一侧。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判断与行动层，落点"包含价值和责任"。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核心句"通道变宽"。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核心句"当操作越来越便宜，判断就越来越昂贵"。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六级阶梯逐级出现，Agent 在旁边提供工具，不取代人。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四类风险，不采用"AI 犯常识错误"的低级案例。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四项标准（可追溯/可复现/可解释/可质疑）。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核心句"把重复劳动交给 Agent，把问题、识别、判断和责任留给自己"。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五级能力，最后一级连接毕业论文。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突出"AI 原生的应用计量课程"。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三阶段对照表。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项目报告 30% + 课堂汇报 10% + 期末闭卷 60%。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五个节点依次点亮，核心句"AI Agent 让获得结果变得容易；计量经济学让判断结果是否可信成为可能"。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• 先散点、再回归线、再残差线，三个预告问题。不使用"谢谢观看"。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中级计量第一讲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15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3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95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8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78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6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3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7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09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85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48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中级计量第一讲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82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153">
              <a:alpha val="92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Ellipse 3"/>
          <p:cNvSpPr/>
          <p:nvPr/>
        </p:nvSpPr>
        <p:spPr>
          <a:xfrm>
            <a:off x="7524750" y="-1047750"/>
            <a:ext cx="4953000" cy="4953000"/>
          </a:xfrm>
          <a:prstGeom prst="ellipse">
            <a:avLst/>
          </a:prstGeom>
          <a:solidFill>
            <a:srgbClr val="00A8CC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llipse 4"/>
          <p:cNvSpPr/>
          <p:nvPr/>
        </p:nvSpPr>
        <p:spPr>
          <a:xfrm>
            <a:off x="-476250" y="3810000"/>
            <a:ext cx="3810000" cy="3810000"/>
          </a:xfrm>
          <a:prstGeom prst="ellipse">
            <a:avLst/>
          </a:prstGeom>
          <a:solidFill>
            <a:srgbClr val="00A8CC">
              <a:alpha val="8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749808" y="2136077"/>
            <a:ext cx="9541073" cy="7155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4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中级计量导论：</a:t>
            </a:r>
            <a:r>
              <a:rPr lang="zh-CN" sz="4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我们如何认识世界？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5820" y="3186112"/>
            <a:ext cx="700332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8E6EE"/>
                </a:solidFill>
                <a:latin typeface="Arial"/>
                <a:ea typeface="Microsoft YaHei"/>
                <a:cs typeface="Arial"/>
              </a:rPr>
              <a:t>从一只掉进洞里的鹅到 AI Agent 时代的计量经济学</a:t>
            </a:r>
          </a:p>
        </p:txBody>
      </p:sp>
      <p:sp>
        <p:nvSpPr>
          <p:cNvPr id="7" name="Rectangle 7"/>
          <p:cNvSpPr/>
          <p:nvPr/>
        </p:nvSpPr>
        <p:spPr>
          <a:xfrm>
            <a:off x="857250" y="3905250"/>
            <a:ext cx="666750" cy="3810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829956" y="4343471"/>
            <a:ext cx="3334246" cy="6155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  <a:cs typeface="Arial"/>
              </a:rPr>
              <a:t>经济贸易学院    张呈磊 </a:t>
            </a:r>
            <a:endParaRPr lang="en-US" altLang="zh-CN" sz="2000" dirty="0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  <a:cs typeface="Arial"/>
            </a:endParaRPr>
          </a:p>
          <a:p>
            <a:pPr algn="l"/>
            <a:r>
              <a:rPr lang="en-US" altLang="zh-CN" sz="2000" dirty="0" err="1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  <a:cs typeface="Arial"/>
              </a:rPr>
              <a:t>chenglei_zhang@gduf.edu.cn</a:t>
            </a:r>
            <a:endParaRPr lang="zh-CN" sz="2000" dirty="0">
              <a:solidFill>
                <a:schemeClr val="bg1"/>
              </a:solidFill>
              <a:latin typeface="SimSun" panose="02010600030101010101" pitchFamily="2" charset="-122"/>
              <a:ea typeface="SimSun" panose="02010600030101010101" pitchFamily="2" charset="-122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8AA0B0"/>
                </a:solidFill>
                <a:latin typeface="Arial"/>
                <a:ea typeface="Arial"/>
                <a:cs typeface="Arial"/>
              </a:rPr>
              <a:t>01 / 43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A0B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48E422F0-EAC6-921C-8C8F-595F5C8F6F12}"/>
              </a:ext>
            </a:extLst>
          </p:cNvPr>
          <p:cNvSpPr/>
          <p:nvPr/>
        </p:nvSpPr>
        <p:spPr>
          <a:xfrm>
            <a:off x="749808" y="5303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ABD6E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中级计量经济学 · 第一讲</a:t>
            </a:r>
            <a:endParaRPr lang="en-US" sz="13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63A61C12-A9A8-350D-CFB7-EE584D20B4CE}"/>
              </a:ext>
            </a:extLst>
          </p:cNvPr>
          <p:cNvSpPr/>
          <p:nvPr/>
        </p:nvSpPr>
        <p:spPr>
          <a:xfrm>
            <a:off x="9985248" y="566928"/>
            <a:ext cx="0" cy="4709160"/>
          </a:xfrm>
          <a:prstGeom prst="line">
            <a:avLst/>
          </a:prstGeom>
          <a:noFill/>
          <a:ln w="17780">
            <a:solidFill>
              <a:srgbClr val="7DAF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938CB53F-E5AE-AB24-BEB3-A54DDA33FB21}"/>
              </a:ext>
            </a:extLst>
          </p:cNvPr>
          <p:cNvSpPr/>
          <p:nvPr/>
        </p:nvSpPr>
        <p:spPr>
          <a:xfrm>
            <a:off x="9848088" y="932688"/>
            <a:ext cx="274320" cy="274320"/>
          </a:xfrm>
          <a:prstGeom prst="ellipse">
            <a:avLst/>
          </a:prstGeom>
          <a:solidFill>
            <a:srgbClr val="C96B36"/>
          </a:solidFill>
          <a:ln w="7620">
            <a:solidFill>
              <a:srgbClr val="C96B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3DFFED71-F7DD-0714-9920-413F03FB24B1}"/>
              </a:ext>
            </a:extLst>
          </p:cNvPr>
          <p:cNvSpPr/>
          <p:nvPr/>
        </p:nvSpPr>
        <p:spPr>
          <a:xfrm>
            <a:off x="8759952" y="4096512"/>
            <a:ext cx="2487168" cy="1993392"/>
          </a:xfrm>
          <a:prstGeom prst="ellipse">
            <a:avLst/>
          </a:prstGeom>
          <a:solidFill>
            <a:srgbClr val="111417"/>
          </a:solidFill>
          <a:ln w="12700">
            <a:solidFill>
              <a:srgbClr val="11141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E40B1AB7-8995-25B0-1C3A-11E9D7484F1D}"/>
              </a:ext>
            </a:extLst>
          </p:cNvPr>
          <p:cNvSpPr/>
          <p:nvPr/>
        </p:nvSpPr>
        <p:spPr>
          <a:xfrm>
            <a:off x="9262872" y="4507992"/>
            <a:ext cx="1481328" cy="1353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290C4D28-C30E-D84C-BFA1-80E6E2FB6562}"/>
              </a:ext>
            </a:extLst>
          </p:cNvPr>
          <p:cNvSpPr/>
          <p:nvPr/>
        </p:nvSpPr>
        <p:spPr>
          <a:xfrm>
            <a:off x="9326880" y="4032504"/>
            <a:ext cx="228600" cy="2286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FCA7EBF8-E29B-8829-37C0-F6135F967A9F}"/>
              </a:ext>
            </a:extLst>
          </p:cNvPr>
          <p:cNvSpPr/>
          <p:nvPr/>
        </p:nvSpPr>
        <p:spPr>
          <a:xfrm>
            <a:off x="10341864" y="4032504"/>
            <a:ext cx="228600" cy="2286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2EED5072-6165-EF34-21AA-FC5D93D46132}"/>
              </a:ext>
            </a:extLst>
          </p:cNvPr>
          <p:cNvSpPr/>
          <p:nvPr/>
        </p:nvSpPr>
        <p:spPr>
          <a:xfrm>
            <a:off x="9400032" y="4105656"/>
            <a:ext cx="64008" cy="64008"/>
          </a:xfrm>
          <a:prstGeom prst="ellipse">
            <a:avLst/>
          </a:prstGeom>
          <a:solidFill>
            <a:srgbClr val="111417"/>
          </a:solidFill>
          <a:ln w="7620">
            <a:solidFill>
              <a:srgbClr val="11141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B7D594F3-CCA5-471C-F627-531339350C60}"/>
              </a:ext>
            </a:extLst>
          </p:cNvPr>
          <p:cNvSpPr/>
          <p:nvPr/>
        </p:nvSpPr>
        <p:spPr>
          <a:xfrm>
            <a:off x="10415016" y="4105656"/>
            <a:ext cx="64008" cy="64008"/>
          </a:xfrm>
          <a:prstGeom prst="ellipse">
            <a:avLst/>
          </a:prstGeom>
          <a:solidFill>
            <a:srgbClr val="111417"/>
          </a:solidFill>
          <a:ln w="7620">
            <a:solidFill>
              <a:srgbClr val="11141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03DCEA95-1200-3EBB-E91D-412AE31CB7F9}"/>
              </a:ext>
            </a:extLst>
          </p:cNvPr>
          <p:cNvSpPr/>
          <p:nvPr/>
        </p:nvSpPr>
        <p:spPr>
          <a:xfrm>
            <a:off x="9756648" y="4297680"/>
            <a:ext cx="438912" cy="274320"/>
          </a:xfrm>
          <a:prstGeom prst="triangle">
            <a:avLst/>
          </a:prstGeom>
          <a:solidFill>
            <a:srgbClr val="C96B36"/>
          </a:solidFill>
          <a:ln w="12700">
            <a:solidFill>
              <a:srgbClr val="C96B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76CD5C86-9D2B-3021-BB4D-9DA40DEAE056}"/>
              </a:ext>
            </a:extLst>
          </p:cNvPr>
          <p:cNvSpPr/>
          <p:nvPr/>
        </p:nvSpPr>
        <p:spPr>
          <a:xfrm>
            <a:off x="10716768" y="5852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/ 42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DCC98-9449-3CC8-4AD4-6A17A3573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FA5EC6-FB8D-0047-F476-F931A3378C3A}"/>
              </a:ext>
            </a:extLst>
          </p:cNvPr>
          <p:cNvSpPr txBox="1"/>
          <p:nvPr/>
        </p:nvSpPr>
        <p:spPr>
          <a:xfrm>
            <a:off x="59436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本讲内容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24346-B307-EF16-E389-365E05D6E75C}"/>
              </a:ext>
            </a:extLst>
          </p:cNvPr>
          <p:cNvSpPr txBox="1"/>
          <p:nvPr/>
        </p:nvSpPr>
        <p:spPr>
          <a:xfrm>
            <a:off x="914400" y="1554480"/>
            <a:ext cx="118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F9016-3D33-9F69-46C2-DDB2580BF2F7}"/>
              </a:ext>
            </a:extLst>
          </p:cNvPr>
          <p:cNvSpPr txBox="1"/>
          <p:nvPr/>
        </p:nvSpPr>
        <p:spPr>
          <a:xfrm>
            <a:off x="2377440" y="1536192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从常识到计量经济学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EDB92-71EF-5126-E16E-76CD0F2F7367}"/>
              </a:ext>
            </a:extLst>
          </p:cNvPr>
          <p:cNvSpPr txBox="1"/>
          <p:nvPr/>
        </p:nvSpPr>
        <p:spPr>
          <a:xfrm>
            <a:off x="2377440" y="2029967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65717A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从一只掉进洞里的鹅说起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3EBED1-C391-1188-CD25-C4D23FE56A39}"/>
              </a:ext>
            </a:extLst>
          </p:cNvPr>
          <p:cNvSpPr txBox="1"/>
          <p:nvPr/>
        </p:nvSpPr>
        <p:spPr>
          <a:xfrm>
            <a:off x="914400" y="2971800"/>
            <a:ext cx="118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0D2C1-7D59-660D-7DF2-4035198049F5}"/>
              </a:ext>
            </a:extLst>
          </p:cNvPr>
          <p:cNvSpPr txBox="1"/>
          <p:nvPr/>
        </p:nvSpPr>
        <p:spPr>
          <a:xfrm>
            <a:off x="2377440" y="2953512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AI Agent 正在重构知识生产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5D83E-BA08-5B0B-6E9C-4FD85CB468D0}"/>
              </a:ext>
            </a:extLst>
          </p:cNvPr>
          <p:cNvSpPr txBox="1"/>
          <p:nvPr/>
        </p:nvSpPr>
        <p:spPr>
          <a:xfrm>
            <a:off x="2377440" y="3447288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65717A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当数据、代码和分析都可以交给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B2094-6CAF-98A3-7AA5-FB8C430EB407}"/>
              </a:ext>
            </a:extLst>
          </p:cNvPr>
          <p:cNvSpPr txBox="1"/>
          <p:nvPr/>
        </p:nvSpPr>
        <p:spPr>
          <a:xfrm>
            <a:off x="914400" y="4389120"/>
            <a:ext cx="118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2D2A9B-54A5-0ECD-2830-30B07368C322}"/>
              </a:ext>
            </a:extLst>
          </p:cNvPr>
          <p:cNvSpPr txBox="1"/>
          <p:nvPr/>
        </p:nvSpPr>
        <p:spPr>
          <a:xfrm>
            <a:off x="2377440" y="4370832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这门课怎样学习？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CCBB0D-164C-6689-59A1-B2E029251A5B}"/>
              </a:ext>
            </a:extLst>
          </p:cNvPr>
          <p:cNvSpPr txBox="1"/>
          <p:nvPr/>
        </p:nvSpPr>
        <p:spPr>
          <a:xfrm>
            <a:off x="2377440" y="4864608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65717A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从「学过回归」到「能够完成实证研究」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6D511D-AAFC-5BDE-C96D-9B8E81D6443A}"/>
              </a:ext>
            </a:extLst>
          </p:cNvPr>
          <p:cNvSpPr txBox="1"/>
          <p:nvPr/>
        </p:nvSpPr>
        <p:spPr>
          <a:xfrm>
            <a:off x="566928" y="6528816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5717A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中级计量经济学 · 第一讲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18AB6-9A28-D9C3-82BA-895E855C833B}"/>
              </a:ext>
            </a:extLst>
          </p:cNvPr>
          <p:cNvSpPr txBox="1"/>
          <p:nvPr/>
        </p:nvSpPr>
        <p:spPr>
          <a:xfrm>
            <a:off x="1113739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101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0" b="1" i="0" u="none" strike="noStrike" kern="1200" cap="none" spc="0" normalizeH="0" baseline="0" noProof="0" dirty="0">
                <a:ln>
                  <a:noFill/>
                </a:ln>
                <a:solidFill>
                  <a:srgbClr val="E8E3D9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kumimoji="0" lang="en-US" sz="1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6384" y="19019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C96B36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 1 部分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6384" y="2331720"/>
            <a:ext cx="9966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从常识到计量经济学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5717A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先从一个谜题开始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87968" y="1325880"/>
            <a:ext cx="0" cy="3337560"/>
          </a:xfrm>
          <a:prstGeom prst="line">
            <a:avLst/>
          </a:prstGeom>
          <a:noFill/>
          <a:ln w="19050">
            <a:solidFill>
              <a:srgbClr val="A7C8D0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778240" y="2176272"/>
            <a:ext cx="219456" cy="219456"/>
          </a:xfrm>
          <a:prstGeom prst="ellipse">
            <a:avLst/>
          </a:prstGeom>
          <a:solidFill>
            <a:srgbClr val="C96B36"/>
          </a:solidFill>
          <a:ln w="7620">
            <a:solidFill>
              <a:srgbClr val="C96B36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65717A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中级计量经济学 · 第一讲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740896" y="6537960"/>
            <a:ext cx="91440" cy="91440"/>
          </a:xfrm>
          <a:prstGeom prst="ellipse">
            <a:avLst/>
          </a:prstGeom>
          <a:solidFill>
            <a:srgbClr val="00A8CC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03 / 43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pic>
        <p:nvPicPr>
          <p:cNvPr id="3" name="图片 2" descr="图片包含 画&#10;&#10;AI 生成的内容可能不正确。">
            <a:extLst>
              <a:ext uri="{FF2B5EF4-FFF2-40B4-BE49-F238E27FC236}">
                <a16:creationId xmlns:a16="http://schemas.microsoft.com/office/drawing/2014/main" id="{824CE0CA-4864-C4EE-132B-EAE6DBED4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97877"/>
            <a:ext cx="7772400" cy="444137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31A790-9D8A-BCAD-338D-4488A7FB888F}"/>
              </a:ext>
            </a:extLst>
          </p:cNvPr>
          <p:cNvSpPr txBox="1"/>
          <p:nvPr/>
        </p:nvSpPr>
        <p:spPr>
          <a:xfrm>
            <a:off x="1905000" y="5441626"/>
            <a:ext cx="838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“关于世界，最不可理解的事情就是它是可以被理解的。”</a:t>
            </a:r>
          </a:p>
          <a:p>
            <a:pPr algn="r">
              <a:buNone/>
            </a:pPr>
            <a:r>
              <a:rPr lang="en-US" altLang="zh-CN" dirty="0"/>
              <a:t>——</a:t>
            </a:r>
            <a:r>
              <a:rPr lang="zh-CN" altLang="en-US" dirty="0"/>
              <a:t>阿尔伯特</a:t>
            </a:r>
            <a:r>
              <a:rPr lang="en-US" altLang="zh-CN" dirty="0"/>
              <a:t>·</a:t>
            </a:r>
            <a:r>
              <a:rPr lang="zh-CN" altLang="en-US" dirty="0"/>
              <a:t>爱因斯坦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E8428-78B9-5EC6-1F03-1822C928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4F9E9D7B-157B-C1AE-D9F2-1CAB9F40CC82}"/>
              </a:ext>
            </a:extLst>
          </p:cNvPr>
          <p:cNvSpPr/>
          <p:nvPr/>
        </p:nvSpPr>
        <p:spPr>
          <a:xfrm>
            <a:off x="2762250" y="4476750"/>
            <a:ext cx="15240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A8CC"/>
            </a:solidFill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38EE081-EAA6-1518-138A-716F21358A2A}"/>
              </a:ext>
            </a:extLst>
          </p:cNvPr>
          <p:cNvSpPr txBox="1"/>
          <p:nvPr/>
        </p:nvSpPr>
        <p:spPr>
          <a:xfrm>
            <a:off x="3251835" y="4590098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白色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8CAAF39-E114-F45E-2147-588E084C4E09}"/>
              </a:ext>
            </a:extLst>
          </p:cNvPr>
          <p:cNvSpPr/>
          <p:nvPr/>
        </p:nvSpPr>
        <p:spPr>
          <a:xfrm>
            <a:off x="4476750" y="4476750"/>
            <a:ext cx="15240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A8CC"/>
            </a:solidFill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E6F1D08-9468-2352-037D-FF65B2CEA1E9}"/>
              </a:ext>
            </a:extLst>
          </p:cNvPr>
          <p:cNvSpPr txBox="1"/>
          <p:nvPr/>
        </p:nvSpPr>
        <p:spPr>
          <a:xfrm>
            <a:off x="4966335" y="4590098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灰色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F6C8E96-4890-DED2-6475-A400C4B0730A}"/>
              </a:ext>
            </a:extLst>
          </p:cNvPr>
          <p:cNvSpPr/>
          <p:nvPr/>
        </p:nvSpPr>
        <p:spPr>
          <a:xfrm>
            <a:off x="6191250" y="4476750"/>
            <a:ext cx="15240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A8CC"/>
            </a:solidFill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7E0DB90-DFE4-C52B-65BF-956C37AB643C}"/>
              </a:ext>
            </a:extLst>
          </p:cNvPr>
          <p:cNvSpPr txBox="1"/>
          <p:nvPr/>
        </p:nvSpPr>
        <p:spPr>
          <a:xfrm>
            <a:off x="6695968" y="4590098"/>
            <a:ext cx="514564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50" b="0" i="0" u="none" strike="noStrike" kern="1200" cap="none" spc="0" normalizeH="0" baseline="0" noProof="0" dirty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黑色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F02BA666-66B5-C44A-E738-BAF779E05019}"/>
              </a:ext>
            </a:extLst>
          </p:cNvPr>
          <p:cNvSpPr/>
          <p:nvPr/>
        </p:nvSpPr>
        <p:spPr>
          <a:xfrm>
            <a:off x="7905750" y="4476750"/>
            <a:ext cx="15240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A8CC"/>
            </a:solidFill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9924E22-C6A9-12B4-C2C5-3F971844F1B4}"/>
              </a:ext>
            </a:extLst>
          </p:cNvPr>
          <p:cNvSpPr txBox="1"/>
          <p:nvPr/>
        </p:nvSpPr>
        <p:spPr>
          <a:xfrm>
            <a:off x="8417680" y="4590098"/>
            <a:ext cx="500137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950" b="0" i="0" u="none" strike="noStrike" kern="1200" cap="none" spc="0" normalizeH="0" baseline="0" noProof="0" dirty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……</a:t>
            </a:r>
            <a:endParaRPr kumimoji="0" lang="zh-CN" altLang="en-US" sz="1950" b="0" i="0" u="none" strike="noStrike" kern="1200" cap="none" spc="0" normalizeH="0" baseline="0" noProof="0" dirty="0">
              <a:ln>
                <a:noFill/>
              </a:ln>
              <a:solidFill>
                <a:srgbClr val="003153"/>
              </a:solidFill>
              <a:effectLst/>
              <a:uLnTx/>
              <a:uFillTx/>
              <a:latin typeface="Arial"/>
              <a:ea typeface="Microsoft YaHei"/>
              <a:cs typeface="Arial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C4F5226-2523-3B4E-F607-B09EDAA7151E}"/>
              </a:ext>
            </a:extLst>
          </p:cNvPr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03 / 43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00F2BCA-1FE6-8545-FFE8-C60B5CB5AFEE}"/>
              </a:ext>
            </a:extLst>
          </p:cNvPr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0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中级计量经济学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79F90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·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79F90"/>
                </a:solidFill>
                <a:effectLst/>
                <a:uLnTx/>
                <a:uFillTx/>
                <a:latin typeface="Arial"/>
                <a:ea typeface="Microsoft YaHei"/>
                <a:cs typeface="Arial"/>
              </a:rPr>
              <a:t>第一讲</a:t>
            </a: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98861B37-2705-F8D1-A257-E71D4632923C}"/>
              </a:ext>
            </a:extLst>
          </p:cNvPr>
          <p:cNvSpPr/>
          <p:nvPr/>
        </p:nvSpPr>
        <p:spPr>
          <a:xfrm>
            <a:off x="685800" y="1078992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4.915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AC3D50F0-25B7-A891-7A83-7FB8E0D50514}"/>
              </a:ext>
            </a:extLst>
          </p:cNvPr>
          <p:cNvSpPr/>
          <p:nvPr/>
        </p:nvSpPr>
        <p:spPr>
          <a:xfrm>
            <a:off x="128016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说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：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一只鹅掉下一个深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 4.915 米的洞，耗时 1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秒，这只鹅是什么颜色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？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9AAE067-0666-7C2C-DA15-EFE4E7F71977}"/>
              </a:ext>
            </a:extLst>
          </p:cNvPr>
          <p:cNvSpPr/>
          <p:nvPr/>
        </p:nvSpPr>
        <p:spPr>
          <a:xfrm>
            <a:off x="6089904" y="310896"/>
            <a:ext cx="0" cy="566928"/>
          </a:xfrm>
          <a:prstGeom prst="line">
            <a:avLst/>
          </a:prstGeom>
          <a:noFill/>
          <a:ln w="16510">
            <a:solidFill>
              <a:srgbClr val="86B8C7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4C10C1E7-35DD-0CB9-6344-6877B72F3F5D}"/>
              </a:ext>
            </a:extLst>
          </p:cNvPr>
          <p:cNvSpPr/>
          <p:nvPr/>
        </p:nvSpPr>
        <p:spPr>
          <a:xfrm>
            <a:off x="5980176" y="704088"/>
            <a:ext cx="219456" cy="219456"/>
          </a:xfrm>
          <a:prstGeom prst="ellipse">
            <a:avLst/>
          </a:prstGeom>
          <a:solidFill>
            <a:srgbClr val="C96B36"/>
          </a:solidFill>
          <a:ln w="7620">
            <a:solidFill>
              <a:srgbClr val="C96B36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64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347035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从 4.915 到黑白色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1333500" y="1946028"/>
            <a:ext cx="9525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608582" y="2062233"/>
            <a:ext cx="120939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4.915 米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23332" y="2062233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86856" y="2094618"/>
            <a:ext cx="282915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20242A"/>
                </a:solidFill>
                <a:latin typeface="Arial"/>
                <a:ea typeface="Arial"/>
                <a:cs typeface="Arial"/>
              </a:rPr>
              <a:t>g = 2×4.915 = 9.83 m/s²</a:t>
            </a:r>
          </a:p>
        </p:txBody>
      </p:sp>
      <p:sp>
        <p:nvSpPr>
          <p:cNvPr id="9" name="Rectangle 9"/>
          <p:cNvSpPr/>
          <p:nvPr/>
        </p:nvSpPr>
        <p:spPr>
          <a:xfrm>
            <a:off x="1333500" y="2708028"/>
            <a:ext cx="9525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608582" y="2824233"/>
            <a:ext cx="147583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03153"/>
                </a:solidFill>
                <a:latin typeface="Arial"/>
                <a:ea typeface="Arial"/>
                <a:cs typeface="Arial"/>
              </a:rPr>
              <a:t>9.83 m/s²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23332" y="2824233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86856" y="2856618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高纬度或极地附近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333500" y="3470028"/>
            <a:ext cx="9525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608582" y="3586233"/>
            <a:ext cx="2154436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极地</a:t>
            </a:r>
            <a:r>
              <a:rPr lang="zh-CN" altLang="en-US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附近</a:t>
            </a:r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的「鹅」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23332" y="3586233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⇒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86856" y="3618618"/>
            <a:ext cx="5029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企鹅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333500" y="4232028"/>
            <a:ext cx="9525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1608582" y="4348233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企鹅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23332" y="4348233"/>
            <a:ext cx="17682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86856" y="4380618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黑白色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75923" y="5395507"/>
            <a:ext cx="444015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科学计算 ＋ 背景知识 ＋ 情境假设 ＋ 语言游戏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04 / 43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9688550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为什么</a:t>
            </a:r>
            <a:r>
              <a:rPr lang="zh-CN" altLang="en-US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有人能猜出来</a:t>
            </a:r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？</a:t>
            </a:r>
            <a:r>
              <a:rPr lang="zh-CN" altLang="en-US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为什么我们如此熟悉</a:t>
            </a:r>
            <a:r>
              <a:rPr lang="en-US" alt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9.8</a:t>
            </a:r>
            <a:r>
              <a:rPr lang="zh-CN" altLang="en-US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这个数字？</a:t>
            </a:r>
            <a:endParaRPr lang="zh-CN" sz="3000" b="1" dirty="0">
              <a:solidFill>
                <a:srgbClr val="003153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322070" y="1471612"/>
            <a:ext cx="935732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我们大多数人从未亲自测量过重力加速度，为什么仍然相信 </a:t>
            </a:r>
            <a:r>
              <a:rPr lang="en-US" sz="2250" b="1" dirty="0">
                <a:solidFill>
                  <a:srgbClr val="003153"/>
                </a:solidFill>
                <a:latin typeface="Arial"/>
                <a:ea typeface="Arial"/>
                <a:cs typeface="Arial"/>
              </a:rPr>
              <a:t>g ≈ 9.8</a:t>
            </a:r>
            <a:r>
              <a:rPr lang="zh-CN" sz="22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？</a:t>
            </a:r>
          </a:p>
        </p:txBody>
      </p:sp>
      <p:sp>
        <p:nvSpPr>
          <p:cNvPr id="6" name="Ellipse 6"/>
          <p:cNvSpPr/>
          <p:nvPr/>
        </p:nvSpPr>
        <p:spPr>
          <a:xfrm>
            <a:off x="1457325" y="2524125"/>
            <a:ext cx="133350" cy="13335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751457" y="2440305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因为教材这样写？</a:t>
            </a:r>
          </a:p>
        </p:txBody>
      </p:sp>
      <p:sp>
        <p:nvSpPr>
          <p:cNvPr id="8" name="Ellipse 8"/>
          <p:cNvSpPr/>
          <p:nvPr/>
        </p:nvSpPr>
        <p:spPr>
          <a:xfrm>
            <a:off x="1457325" y="3190875"/>
            <a:ext cx="133350" cy="13335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751457" y="3107055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因为老师这样讲？</a:t>
            </a:r>
          </a:p>
        </p:txBody>
      </p:sp>
      <p:sp>
        <p:nvSpPr>
          <p:cNvPr id="10" name="Ellipse 10"/>
          <p:cNvSpPr/>
          <p:nvPr/>
        </p:nvSpPr>
        <p:spPr>
          <a:xfrm>
            <a:off x="1457325" y="3857625"/>
            <a:ext cx="133350" cy="13335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751457" y="3773805"/>
            <a:ext cx="28483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因为大家都这样认为？</a:t>
            </a:r>
          </a:p>
        </p:txBody>
      </p:sp>
      <p:sp>
        <p:nvSpPr>
          <p:cNvPr id="12" name="Ellipse 12"/>
          <p:cNvSpPr/>
          <p:nvPr/>
        </p:nvSpPr>
        <p:spPr>
          <a:xfrm>
            <a:off x="1457325" y="4524375"/>
            <a:ext cx="133350" cy="13335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751457" y="4440555"/>
            <a:ext cx="2423740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还是因为它</a:t>
            </a:r>
            <a:r>
              <a:rPr lang="zh-CN" altLang="en-US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是常识</a:t>
            </a:r>
            <a:r>
              <a:rPr lang="zh-CN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05 / 43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从伽利略到牛顿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09 / 43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70A405BF-3C44-0604-F35F-E0C5F16C97ED}"/>
              </a:ext>
            </a:extLst>
          </p:cNvPr>
          <p:cNvSpPr/>
          <p:nvPr/>
        </p:nvSpPr>
        <p:spPr>
          <a:xfrm>
            <a:off x="2016862" y="4062042"/>
            <a:ext cx="8183880" cy="0"/>
          </a:xfrm>
          <a:prstGeom prst="line">
            <a:avLst/>
          </a:prstGeom>
          <a:noFill/>
          <a:ln w="38100">
            <a:solidFill>
              <a:srgbClr val="00315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5B39AA60-7E6D-2FA6-843F-8B1A490870FF}"/>
              </a:ext>
            </a:extLst>
          </p:cNvPr>
          <p:cNvSpPr/>
          <p:nvPr/>
        </p:nvSpPr>
        <p:spPr>
          <a:xfrm>
            <a:off x="2748382" y="3778578"/>
            <a:ext cx="566928" cy="566928"/>
          </a:xfrm>
          <a:prstGeom prst="ellipse">
            <a:avLst/>
          </a:prstGeom>
          <a:solidFill>
            <a:srgbClr val="C96B36"/>
          </a:solidFill>
          <a:ln w="7620">
            <a:solidFill>
              <a:srgbClr val="C96B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6F9FDD1A-8936-8D73-433C-8E9DDE8EA581}"/>
              </a:ext>
            </a:extLst>
          </p:cNvPr>
          <p:cNvSpPr/>
          <p:nvPr/>
        </p:nvSpPr>
        <p:spPr>
          <a:xfrm>
            <a:off x="8600542" y="3778578"/>
            <a:ext cx="566928" cy="566928"/>
          </a:xfrm>
          <a:prstGeom prst="ellipse">
            <a:avLst/>
          </a:prstGeom>
          <a:solidFill>
            <a:srgbClr val="00A8CC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D6B7C17-1EBB-68ED-1B71-70B93832E0C4}"/>
              </a:ext>
            </a:extLst>
          </p:cNvPr>
          <p:cNvSpPr/>
          <p:nvPr/>
        </p:nvSpPr>
        <p:spPr>
          <a:xfrm>
            <a:off x="1239622" y="277273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C96B3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伽利略</a:t>
            </a:r>
            <a:endParaRPr lang="en-US" sz="29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8F6F42C0-5E6F-EEC9-37D9-D1FA9F473A41}"/>
              </a:ext>
            </a:extLst>
          </p:cNvPr>
          <p:cNvSpPr/>
          <p:nvPr/>
        </p:nvSpPr>
        <p:spPr>
          <a:xfrm>
            <a:off x="1239622" y="459239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运动可以被测量、比较，并用数学语言表达</a:t>
            </a:r>
            <a:endParaRPr lang="en-US" sz="19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BA6B37C8-F423-0789-9DD0-A503C0454AA2}"/>
              </a:ext>
            </a:extLst>
          </p:cNvPr>
          <p:cNvSpPr/>
          <p:nvPr/>
        </p:nvSpPr>
        <p:spPr>
          <a:xfrm>
            <a:off x="7411822" y="277273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0A8C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牛顿</a:t>
            </a:r>
            <a:endParaRPr lang="en-US" sz="29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918C26DB-1236-4E21-372C-096DA7555F5A}"/>
              </a:ext>
            </a:extLst>
          </p:cNvPr>
          <p:cNvSpPr/>
          <p:nvPr/>
        </p:nvSpPr>
        <p:spPr>
          <a:xfrm>
            <a:off x="7411822" y="459239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地面与天空的运动，可以由统一规律解释</a:t>
            </a:r>
            <a:endParaRPr lang="en-US" sz="19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F3F825E9-DF4A-0151-AC72-3878F174A1C0}"/>
              </a:ext>
            </a:extLst>
          </p:cNvPr>
          <p:cNvSpPr/>
          <p:nvPr/>
        </p:nvSpPr>
        <p:spPr>
          <a:xfrm>
            <a:off x="4229710" y="366885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00" dirty="0" err="1">
                <a:solidFill>
                  <a:srgbClr val="6571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观察</a:t>
            </a:r>
            <a:endParaRPr lang="en-US" sz="12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6B4F4A04-60A9-1F3E-2AD1-83973D941D52}"/>
              </a:ext>
            </a:extLst>
          </p:cNvPr>
          <p:cNvSpPr/>
          <p:nvPr/>
        </p:nvSpPr>
        <p:spPr>
          <a:xfrm>
            <a:off x="5765902" y="366885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00" dirty="0">
                <a:solidFill>
                  <a:srgbClr val="6571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建模</a:t>
            </a:r>
            <a:endParaRPr lang="en-US" sz="12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0A6EED32-0883-047F-7936-F3BD2E5D74AF}"/>
              </a:ext>
            </a:extLst>
          </p:cNvPr>
          <p:cNvSpPr/>
          <p:nvPr/>
        </p:nvSpPr>
        <p:spPr>
          <a:xfrm>
            <a:off x="7302094" y="366885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00" dirty="0" err="1">
                <a:solidFill>
                  <a:srgbClr val="6571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验证</a:t>
            </a:r>
            <a:endParaRPr lang="en-US" sz="1200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DA9CEF-D9EC-CE7B-53A2-FAC23329175C}"/>
              </a:ext>
            </a:extLst>
          </p:cNvPr>
          <p:cNvSpPr/>
          <p:nvPr/>
        </p:nvSpPr>
        <p:spPr>
          <a:xfrm>
            <a:off x="1452982" y="1580768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B5E913-C1EC-33E6-E1A1-5B37BFF5686F}"/>
              </a:ext>
            </a:extLst>
          </p:cNvPr>
          <p:cNvSpPr/>
          <p:nvPr/>
        </p:nvSpPr>
        <p:spPr>
          <a:xfrm>
            <a:off x="1452982" y="1580768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BF9D09C-4462-EC42-8F12-8870FCD79114}"/>
              </a:ext>
            </a:extLst>
          </p:cNvPr>
          <p:cNvSpPr txBox="1"/>
          <p:nvPr/>
        </p:nvSpPr>
        <p:spPr>
          <a:xfrm>
            <a:off x="1709014" y="1782698"/>
            <a:ext cx="4847481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今天的常识，往往是昨天科学革命的成果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24536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科学革命以前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322832" y="1392555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认识世界更多依靠</a:t>
            </a:r>
          </a:p>
        </p:txBody>
      </p:sp>
      <p:sp>
        <p:nvSpPr>
          <p:cNvPr id="6" name="Rectangle 6"/>
          <p:cNvSpPr/>
          <p:nvPr/>
        </p:nvSpPr>
        <p:spPr>
          <a:xfrm>
            <a:off x="1333500" y="1905000"/>
            <a:ext cx="9525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608582" y="2021205"/>
            <a:ext cx="154792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1. 日常经验</a:t>
            </a:r>
          </a:p>
        </p:txBody>
      </p:sp>
      <p:sp>
        <p:nvSpPr>
          <p:cNvPr id="8" name="Rectangle 8"/>
          <p:cNvSpPr/>
          <p:nvPr/>
        </p:nvSpPr>
        <p:spPr>
          <a:xfrm>
            <a:off x="1333500" y="2667000"/>
            <a:ext cx="9525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608582" y="2783205"/>
            <a:ext cx="154792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2. 传统权威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333500" y="3429000"/>
            <a:ext cx="9525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608582" y="3545205"/>
            <a:ext cx="154792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3. 定性解释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333500" y="4191000"/>
            <a:ext cx="9525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608582" y="4307205"/>
            <a:ext cx="154792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4. 哲学思辨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07 / 43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8079135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常识是被压缩的知识</a:t>
            </a:r>
            <a:r>
              <a:rPr lang="zh-CN" altLang="en-US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，知识来自科学的研究方法</a:t>
            </a:r>
            <a:endParaRPr lang="zh-CN" sz="3000" b="1" dirty="0">
              <a:solidFill>
                <a:srgbClr val="003153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216737" y="3248835"/>
            <a:ext cx="7758534" cy="3462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观察 → 测量 → 实验 → 模型 → 检验 → 教材 → </a:t>
            </a:r>
            <a:r>
              <a:rPr lang="zh-CN" altLang="en-US" sz="2250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知识</a:t>
            </a:r>
            <a:r>
              <a:rPr lang="zh-CN" altLang="zh-CN" sz="2250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→ </a:t>
            </a:r>
            <a:r>
              <a:rPr lang="zh-CN" altLang="en-US" sz="2250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常识</a:t>
            </a:r>
            <a:r>
              <a:rPr lang="zh-CN" altLang="zh-CN" sz="2250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 </a:t>
            </a:r>
            <a:endParaRPr lang="zh-CN" sz="2250" dirty="0">
              <a:solidFill>
                <a:srgbClr val="003153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633787" y="4221114"/>
            <a:ext cx="492442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常识是长期科学工作被压缩后的结果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06 / 43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0087B3C-DD2C-7628-0DC2-E0DFE36F1DD0}"/>
              </a:ext>
            </a:extLst>
          </p:cNvPr>
          <p:cNvSpPr/>
          <p:nvPr/>
        </p:nvSpPr>
        <p:spPr>
          <a:xfrm>
            <a:off x="1452982" y="1904325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/>
            <a:r>
              <a:rPr lang="zh-CN" altLang="en-US" sz="2800" dirty="0"/>
              <a:t>什么是科学？科学的方法是什么？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一种新的认识方式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322832" y="1392555"/>
            <a:ext cx="256565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科学革命以后更强调</a:t>
            </a:r>
          </a:p>
        </p:txBody>
      </p:sp>
      <p:sp>
        <p:nvSpPr>
          <p:cNvPr id="6" name="Rectangle 6"/>
          <p:cNvSpPr/>
          <p:nvPr/>
        </p:nvSpPr>
        <p:spPr>
          <a:xfrm>
            <a:off x="1333500" y="1905000"/>
            <a:ext cx="9525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1333500" y="1905000"/>
            <a:ext cx="57150" cy="51435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656207" y="202120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系统观察</a:t>
            </a:r>
          </a:p>
        </p:txBody>
      </p:sp>
      <p:sp>
        <p:nvSpPr>
          <p:cNvPr id="9" name="Rectangle 9"/>
          <p:cNvSpPr/>
          <p:nvPr/>
        </p:nvSpPr>
        <p:spPr>
          <a:xfrm>
            <a:off x="1333500" y="2667000"/>
            <a:ext cx="9525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1333500" y="2667000"/>
            <a:ext cx="57150" cy="51435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656207" y="278320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精确测量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333500" y="3429000"/>
            <a:ext cx="9525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3"/>
          <p:cNvSpPr/>
          <p:nvPr/>
        </p:nvSpPr>
        <p:spPr>
          <a:xfrm>
            <a:off x="1333500" y="3429000"/>
            <a:ext cx="57150" cy="51435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656207" y="354520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数学模型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333500" y="4191000"/>
            <a:ext cx="9525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6"/>
          <p:cNvSpPr/>
          <p:nvPr/>
        </p:nvSpPr>
        <p:spPr>
          <a:xfrm>
            <a:off x="1333500" y="4191000"/>
            <a:ext cx="57150" cy="51435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656207" y="430720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公开检验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333500" y="5524500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ectangle 19"/>
          <p:cNvSpPr/>
          <p:nvPr/>
        </p:nvSpPr>
        <p:spPr>
          <a:xfrm>
            <a:off x="1333500" y="5524500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1589532" y="5726430"/>
            <a:ext cx="567537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不仅要解释世界，还要让解释可以接受检验。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08 / 43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四个转变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2967696" y="1917089"/>
            <a:ext cx="153733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权威与直觉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20446" y="1917089"/>
            <a:ext cx="18945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86971" y="1917089"/>
            <a:ext cx="153733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A8CC"/>
                </a:solidFill>
                <a:latin typeface="Arial"/>
                <a:ea typeface="Microsoft YaHei"/>
                <a:cs typeface="Arial"/>
              </a:rPr>
              <a:t>观察与证据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67696" y="2821965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定性描述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0446" y="2821965"/>
            <a:ext cx="18945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6971" y="2821965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A8CC"/>
                </a:solidFill>
                <a:latin typeface="Arial"/>
                <a:ea typeface="Microsoft YaHei"/>
                <a:cs typeface="Arial"/>
              </a:rPr>
              <a:t>定量测量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67696" y="3726839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零散经验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20446" y="3726839"/>
            <a:ext cx="18945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86971" y="3726839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A8CC"/>
                </a:solidFill>
                <a:latin typeface="Arial"/>
                <a:ea typeface="Microsoft YaHei"/>
                <a:cs typeface="Arial"/>
              </a:rPr>
              <a:t>数学模型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67696" y="4631715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寻找支持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20446" y="4631715"/>
            <a:ext cx="18945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86971" y="4631715"/>
            <a:ext cx="214312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A8CC"/>
                </a:solidFill>
                <a:latin typeface="Arial"/>
                <a:ea typeface="Microsoft YaHei"/>
                <a:cs typeface="Arial"/>
              </a:rPr>
              <a:t>接受检验和反驳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10 / 43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293928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4.915 是什么？</a:t>
            </a:r>
          </a:p>
        </p:txBody>
      </p:sp>
      <p:sp>
        <p:nvSpPr>
          <p:cNvPr id="4" name="Line 4"/>
          <p:cNvSpPr/>
          <p:nvPr/>
        </p:nvSpPr>
        <p:spPr>
          <a:xfrm>
            <a:off x="723900" y="113919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6024982" y="2213169"/>
            <a:ext cx="4953000" cy="723900"/>
          </a:xfrm>
          <a:prstGeom prst="roundRect">
            <a:avLst>
              <a:gd name="adj" fmla="val 10526"/>
            </a:avLst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6243676" y="2307467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判断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64350" y="2339851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>
                    <a:alphaMod val="92000"/>
                  </a:srgbClr>
                </a:solidFill>
                <a:latin typeface="Arial"/>
                <a:ea typeface="Microsoft YaHei"/>
                <a:cs typeface="Arial"/>
              </a:rPr>
              <a:t>结合情境推测它是黑白色的企鹅</a:t>
            </a:r>
          </a:p>
        </p:txBody>
      </p:sp>
      <p:sp>
        <p:nvSpPr>
          <p:cNvPr id="8" name="Rectangle 8"/>
          <p:cNvSpPr/>
          <p:nvPr/>
        </p:nvSpPr>
        <p:spPr>
          <a:xfrm>
            <a:off x="4500982" y="3118044"/>
            <a:ext cx="6477000" cy="723900"/>
          </a:xfrm>
          <a:prstGeom prst="roundRect">
            <a:avLst>
              <a:gd name="adj" fmla="val 10526"/>
            </a:avLst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719676" y="3212341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知识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40350" y="3244727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>
                    <a:alphaMod val="92000"/>
                  </a:srgbClr>
                </a:solidFill>
                <a:latin typeface="Arial"/>
                <a:ea typeface="Microsoft YaHei"/>
                <a:cs typeface="Arial"/>
              </a:rPr>
              <a:t>数值与高纬度或极地附近的重力条件相符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976982" y="4022919"/>
            <a:ext cx="8001000" cy="723900"/>
          </a:xfrm>
          <a:prstGeom prst="roundRect">
            <a:avLst>
              <a:gd name="adj" fmla="val 10526"/>
            </a:avLst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3195676" y="4117217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信息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16350" y="4149601"/>
            <a:ext cx="250454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>
                    <a:alphaMod val="92000"/>
                  </a:srgbClr>
                </a:solidFill>
                <a:latin typeface="Arial"/>
                <a:ea typeface="Microsoft YaHei"/>
                <a:cs typeface="Arial"/>
              </a:rPr>
              <a:t>根据模型计算得 g = 9.83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452982" y="4927794"/>
            <a:ext cx="9525000" cy="723900"/>
          </a:xfrm>
          <a:prstGeom prst="roundRect">
            <a:avLst>
              <a:gd name="adj" fmla="val 10526"/>
            </a:avLst>
          </a:prstGeom>
          <a:solidFill>
            <a:srgbClr val="001A3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671676" y="5022091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92350" y="5054477"/>
            <a:ext cx="20936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>
                    <a:alphaMod val="92000"/>
                  </a:srgbClr>
                </a:solidFill>
                <a:latin typeface="Arial"/>
                <a:ea typeface="Microsoft YaHei"/>
                <a:cs typeface="Arial"/>
              </a:rPr>
              <a:t>第一秒下落 4.915 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11 / 43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F43D1DAA-BF35-DFBA-BB27-C4796D107917}"/>
              </a:ext>
            </a:extLst>
          </p:cNvPr>
          <p:cNvSpPr/>
          <p:nvPr/>
        </p:nvSpPr>
        <p:spPr>
          <a:xfrm>
            <a:off x="914400" y="1335024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 err="1">
                <a:solidFill>
                  <a:srgbClr val="C96B3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信息科学的认知金字塔</a:t>
            </a:r>
            <a:r>
              <a:rPr lang="zh-CN" altLang="en-US" sz="2300" b="1" dirty="0">
                <a:solidFill>
                  <a:srgbClr val="C96B3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：从现实数据到抽象知识</a:t>
            </a:r>
            <a:endParaRPr lang="en-US" sz="2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数据不会自动变成知识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4206263" y="1645920"/>
            <a:ext cx="377947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数据 → 信息 → 知识 → 判断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29152" y="2853690"/>
            <a:ext cx="133369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↑ </a:t>
            </a:r>
            <a:r>
              <a:rPr lang="zh-CN" altLang="en-US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归纳</a:t>
            </a:r>
            <a:r>
              <a:rPr lang="zh-CN" sz="18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与比较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78082" y="3806190"/>
            <a:ext cx="143583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↑ 模型与检验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21239" y="4758690"/>
            <a:ext cx="294952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↑ 背景知识与假设</a:t>
            </a:r>
            <a:r>
              <a:rPr lang="zh-CN" altLang="en-US" sz="18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：理论建模</a:t>
            </a:r>
            <a:endParaRPr lang="zh-CN" sz="1800" dirty="0">
              <a:solidFill>
                <a:srgbClr val="5A6570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1333500" y="5619750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1333500" y="5619750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589532" y="5821680"/>
            <a:ext cx="48272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每向上走一步，都需要增加新的条件。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12 / 43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4616648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社会</a:t>
            </a:r>
            <a:r>
              <a:rPr lang="zh-CN" altLang="en-US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科学</a:t>
            </a:r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也能这样研究吗？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1619250" y="1905000"/>
            <a:ext cx="42862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6"/>
          <p:cNvSpPr/>
          <p:nvPr/>
        </p:nvSpPr>
        <p:spPr>
          <a:xfrm>
            <a:off x="1619250" y="1905000"/>
            <a:ext cx="57150" cy="85725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837944" y="2189798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教育是否提高工资？</a:t>
            </a:r>
          </a:p>
        </p:txBody>
      </p:sp>
      <p:sp>
        <p:nvSpPr>
          <p:cNvPr id="8" name="Rectangle 8"/>
          <p:cNvSpPr/>
          <p:nvPr/>
        </p:nvSpPr>
        <p:spPr>
          <a:xfrm>
            <a:off x="6286500" y="1905000"/>
            <a:ext cx="42862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6286500" y="1905000"/>
            <a:ext cx="57150" cy="85725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505194" y="2189798"/>
            <a:ext cx="290741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最低工资是否减少就业？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619250" y="3429000"/>
            <a:ext cx="42862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2"/>
          <p:cNvSpPr/>
          <p:nvPr/>
        </p:nvSpPr>
        <p:spPr>
          <a:xfrm>
            <a:off x="1619250" y="3429000"/>
            <a:ext cx="57150" cy="85725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837944" y="3713798"/>
            <a:ext cx="290741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地铁开通是否推高房价？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98223" y="3393831"/>
            <a:ext cx="42862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altLang="zh-CN" b="1" dirty="0">
              <a:solidFill>
                <a:srgbClr val="003153"/>
              </a:solidFill>
              <a:latin typeface="Arial"/>
              <a:ea typeface="Microsoft YaHei"/>
              <a:cs typeface="Arial"/>
            </a:endParaRPr>
          </a:p>
          <a:p>
            <a:r>
              <a:rPr lang="zh-CN" altLang="zh-CN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数字化是否提高企业生产率？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86500" y="3429000"/>
            <a:ext cx="57150" cy="85725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14 / 43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AEF9C667-A1A5-EE1F-288F-B3B4FECFCF77}"/>
              </a:ext>
            </a:extLst>
          </p:cNvPr>
          <p:cNvSpPr/>
          <p:nvPr/>
        </p:nvSpPr>
        <p:spPr>
          <a:xfrm>
            <a:off x="4450080" y="4953000"/>
            <a:ext cx="3456432" cy="1097280"/>
          </a:xfrm>
          <a:prstGeom prst="roundRect">
            <a:avLst>
              <a:gd name="adj" fmla="val 5000"/>
            </a:avLst>
          </a:prstGeom>
          <a:solidFill>
            <a:srgbClr val="F4E2D4"/>
          </a:solidFill>
          <a:ln w="12700">
            <a:solidFill>
              <a:srgbClr val="DEA77F"/>
            </a:solidFill>
            <a:prstDash val="solid"/>
          </a:ln>
          <a:effectLst>
            <a:outerShdw blurRad="38100" dist="15240" dir="2700000" algn="bl" rotWithShape="0">
              <a:srgbClr val="20313E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CFFEF2F8-F88D-1BC1-AE1A-FB1B10C24C31}"/>
              </a:ext>
            </a:extLst>
          </p:cNvPr>
          <p:cNvSpPr/>
          <p:nvPr/>
        </p:nvSpPr>
        <p:spPr>
          <a:xfrm>
            <a:off x="4687824" y="519988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C96B3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使用 AI 是否提高学习成绩？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5793253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从 g 到 β</a:t>
            </a:r>
            <a:r>
              <a:rPr lang="zh-CN" altLang="en-US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：从数据到信息再到知识</a:t>
            </a:r>
            <a:endParaRPr lang="zh-CN" sz="3000" b="1" dirty="0">
              <a:solidFill>
                <a:srgbClr val="003153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15 / 43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F150FA2F-3965-8292-C62A-02029DE89A07}"/>
              </a:ext>
            </a:extLst>
          </p:cNvPr>
          <p:cNvSpPr/>
          <p:nvPr/>
        </p:nvSpPr>
        <p:spPr>
          <a:xfrm>
            <a:off x="731520" y="1449910"/>
            <a:ext cx="4983480" cy="3529584"/>
          </a:xfrm>
          <a:prstGeom prst="roundRect">
            <a:avLst>
              <a:gd name="adj" fmla="val 1554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  <a:effectLst>
            <a:outerShdw blurRad="38100" dist="15240" dir="2700000" algn="bl" rotWithShape="0">
              <a:srgbClr val="20313E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1BD2FF52-26AF-5A19-A639-B6E0512ACE76}"/>
              </a:ext>
            </a:extLst>
          </p:cNvPr>
          <p:cNvSpPr/>
          <p:nvPr/>
        </p:nvSpPr>
        <p:spPr>
          <a:xfrm>
            <a:off x="6473952" y="1449910"/>
            <a:ext cx="4983480" cy="3529584"/>
          </a:xfrm>
          <a:prstGeom prst="roundRect">
            <a:avLst>
              <a:gd name="adj" fmla="val 1554"/>
            </a:avLst>
          </a:prstGeom>
          <a:solidFill>
            <a:srgbClr val="DDF3F7"/>
          </a:solidFill>
          <a:ln w="12700">
            <a:solidFill>
              <a:srgbClr val="9CCFD9"/>
            </a:solidFill>
            <a:prstDash val="solid"/>
          </a:ln>
          <a:effectLst>
            <a:outerShdw blurRad="38100" dist="15240" dir="2700000" algn="bl" rotWithShape="0">
              <a:srgbClr val="20313E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0048A1C4-6B24-B07E-38A9-EAAEF768B46E}"/>
              </a:ext>
            </a:extLst>
          </p:cNvPr>
          <p:cNvSpPr/>
          <p:nvPr/>
        </p:nvSpPr>
        <p:spPr>
          <a:xfrm>
            <a:off x="1024128" y="1760806"/>
            <a:ext cx="1234440" cy="310896"/>
          </a:xfrm>
          <a:prstGeom prst="roundRect">
            <a:avLst/>
          </a:prstGeom>
          <a:solidFill>
            <a:srgbClr val="F4E2D4"/>
          </a:solidFill>
          <a:ln w="12700">
            <a:solidFill>
              <a:srgbClr val="F4E2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CBECFBF9-0E84-987E-A7E4-660DDC6A21EE}"/>
              </a:ext>
            </a:extLst>
          </p:cNvPr>
          <p:cNvSpPr/>
          <p:nvPr/>
        </p:nvSpPr>
        <p:spPr>
          <a:xfrm>
            <a:off x="1024128" y="176080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C96B3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自然世界</a:t>
            </a:r>
            <a:endParaRPr lang="en-US" sz="105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64DD70C3-6153-4B3F-2102-1A992FAA624D}"/>
              </a:ext>
            </a:extLst>
          </p:cNvPr>
          <p:cNvSpPr/>
          <p:nvPr/>
        </p:nvSpPr>
        <p:spPr>
          <a:xfrm>
            <a:off x="6766560" y="1760806"/>
            <a:ext cx="1234440" cy="310896"/>
          </a:xfrm>
          <a:prstGeom prst="round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A16FDB9D-61BE-B67E-71E1-99CD7396D36A}"/>
              </a:ext>
            </a:extLst>
          </p:cNvPr>
          <p:cNvSpPr/>
          <p:nvPr/>
        </p:nvSpPr>
        <p:spPr>
          <a:xfrm>
            <a:off x="6766560" y="176080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社会世界</a:t>
            </a:r>
            <a:endParaRPr lang="en-US" sz="105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35294C89-6AE9-DD81-A4BD-FE1FA10CB7DF}"/>
              </a:ext>
            </a:extLst>
          </p:cNvPr>
          <p:cNvSpPr/>
          <p:nvPr/>
        </p:nvSpPr>
        <p:spPr>
          <a:xfrm>
            <a:off x="1051560" y="243746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315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 = ½gt²</a:t>
            </a:r>
            <a:endParaRPr lang="en-US" sz="34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56549929-46EB-7CE2-B2D0-C6E8DEE80DC9}"/>
              </a:ext>
            </a:extLst>
          </p:cNvPr>
          <p:cNvSpPr/>
          <p:nvPr/>
        </p:nvSpPr>
        <p:spPr>
          <a:xfrm>
            <a:off x="1097280" y="3443302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571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希望认识重力参数 g</a:t>
            </a:r>
            <a:endParaRPr lang="en-US" sz="18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6053E461-F384-7AE9-DAC5-5809E517CE14}"/>
              </a:ext>
            </a:extLst>
          </p:cNvPr>
          <p:cNvSpPr/>
          <p:nvPr/>
        </p:nvSpPr>
        <p:spPr>
          <a:xfrm>
            <a:off x="6711696" y="2382598"/>
            <a:ext cx="45079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315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成绩ᵢ = β₀ + β₁AIᵢ + uᵢ</a:t>
            </a:r>
            <a:endParaRPr lang="en-US" sz="250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4D757E90-1CE3-72EB-E204-054112CBD089}"/>
              </a:ext>
            </a:extLst>
          </p:cNvPr>
          <p:cNvSpPr/>
          <p:nvPr/>
        </p:nvSpPr>
        <p:spPr>
          <a:xfrm>
            <a:off x="6748272" y="3443302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希望认识 AI 使用的影响 β₁</a:t>
            </a:r>
            <a:endParaRPr lang="en-US" sz="1800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5DE0B9F9-05A6-826A-2528-3319698C4C46}"/>
              </a:ext>
            </a:extLst>
          </p:cNvPr>
          <p:cNvSpPr/>
          <p:nvPr/>
        </p:nvSpPr>
        <p:spPr>
          <a:xfrm>
            <a:off x="5879592" y="1989406"/>
            <a:ext cx="0" cy="2468880"/>
          </a:xfrm>
          <a:prstGeom prst="line">
            <a:avLst/>
          </a:prstGeom>
          <a:noFill/>
          <a:ln w="25400">
            <a:solidFill>
              <a:srgbClr val="C96B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9A370583-2A95-A986-1641-A5AED7CBB428}"/>
              </a:ext>
            </a:extLst>
          </p:cNvPr>
          <p:cNvSpPr/>
          <p:nvPr/>
        </p:nvSpPr>
        <p:spPr>
          <a:xfrm>
            <a:off x="5760720" y="3104974"/>
            <a:ext cx="237744" cy="237744"/>
          </a:xfrm>
          <a:prstGeom prst="ellipse">
            <a:avLst/>
          </a:prstGeom>
          <a:solidFill>
            <a:srgbClr val="C96B36"/>
          </a:solidFill>
          <a:ln w="7620">
            <a:solidFill>
              <a:srgbClr val="C96B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13D9687D-BC63-FF2A-EB65-B472204A46D8}"/>
              </a:ext>
            </a:extLst>
          </p:cNvPr>
          <p:cNvSpPr/>
          <p:nvPr/>
        </p:nvSpPr>
        <p:spPr>
          <a:xfrm>
            <a:off x="1005840" y="5454982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6B3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利用观察到的数据，估计不能直接看到的参数。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社会世界更加困难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Ellipse 5"/>
          <p:cNvSpPr/>
          <p:nvPr/>
        </p:nvSpPr>
        <p:spPr>
          <a:xfrm>
            <a:off x="1390650" y="1974342"/>
            <a:ext cx="152400" cy="152400"/>
          </a:xfrm>
          <a:prstGeom prst="ellipse">
            <a:avLst/>
          </a:prstGeom>
          <a:solidFill>
            <a:srgbClr val="A33A3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694688" y="1908143"/>
            <a:ext cx="382762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人会主动选择，而不是被动下落</a:t>
            </a:r>
          </a:p>
        </p:txBody>
      </p:sp>
      <p:sp>
        <p:nvSpPr>
          <p:cNvPr id="7" name="Ellipse 7"/>
          <p:cNvSpPr/>
          <p:nvPr/>
        </p:nvSpPr>
        <p:spPr>
          <a:xfrm>
            <a:off x="1390650" y="2622042"/>
            <a:ext cx="152400" cy="152400"/>
          </a:xfrm>
          <a:prstGeom prst="ellipse">
            <a:avLst/>
          </a:prstGeom>
          <a:solidFill>
            <a:srgbClr val="A33A3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694688" y="2555843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两个学生不可能完全相同</a:t>
            </a:r>
          </a:p>
        </p:txBody>
      </p:sp>
      <p:sp>
        <p:nvSpPr>
          <p:cNvPr id="9" name="Ellipse 9"/>
          <p:cNvSpPr/>
          <p:nvPr/>
        </p:nvSpPr>
        <p:spPr>
          <a:xfrm>
            <a:off x="1390650" y="3269742"/>
            <a:ext cx="152400" cy="152400"/>
          </a:xfrm>
          <a:prstGeom prst="ellipse">
            <a:avLst/>
          </a:prstGeom>
          <a:solidFill>
            <a:srgbClr val="A33A3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694688" y="3203543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很多重要因素无法观察</a:t>
            </a:r>
          </a:p>
        </p:txBody>
      </p:sp>
      <p:sp>
        <p:nvSpPr>
          <p:cNvPr id="11" name="Ellipse 11"/>
          <p:cNvSpPr/>
          <p:nvPr/>
        </p:nvSpPr>
        <p:spPr>
          <a:xfrm>
            <a:off x="1390650" y="3917442"/>
            <a:ext cx="152400" cy="152400"/>
          </a:xfrm>
          <a:prstGeom prst="ellipse">
            <a:avLst/>
          </a:prstGeom>
          <a:solidFill>
            <a:srgbClr val="A33A3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694688" y="3851243"/>
            <a:ext cx="273989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制度和行为会不断变化</a:t>
            </a:r>
          </a:p>
        </p:txBody>
      </p:sp>
      <p:sp>
        <p:nvSpPr>
          <p:cNvPr id="13" name="Ellipse 13"/>
          <p:cNvSpPr/>
          <p:nvPr/>
        </p:nvSpPr>
        <p:spPr>
          <a:xfrm>
            <a:off x="1390650" y="4565142"/>
            <a:ext cx="152400" cy="152400"/>
          </a:xfrm>
          <a:prstGeom prst="ellipse">
            <a:avLst/>
          </a:prstGeom>
          <a:solidFill>
            <a:srgbClr val="A33A3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694688" y="4498943"/>
            <a:ext cx="382762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同一个人不能同时处于两种状态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333500" y="5619750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6"/>
          <p:cNvSpPr/>
          <p:nvPr/>
        </p:nvSpPr>
        <p:spPr>
          <a:xfrm>
            <a:off x="1333500" y="5619750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589532" y="5821680"/>
            <a:ext cx="8574463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反事实通常看不见</a:t>
            </a:r>
            <a:r>
              <a:rPr lang="zh-CN" altLang="en-US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，现实世界比客观物理世界确定因果关系要困难的多！</a:t>
            </a:r>
            <a:endParaRPr lang="zh-CN" sz="2100" b="1" dirty="0">
              <a:solidFill>
                <a:srgbClr val="003153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16 / 43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41A226F6-0B6E-9F5C-9B20-C30547C6B812}"/>
              </a:ext>
            </a:extLst>
          </p:cNvPr>
          <p:cNvSpPr/>
          <p:nvPr/>
        </p:nvSpPr>
        <p:spPr>
          <a:xfrm>
            <a:off x="6501619" y="1908143"/>
            <a:ext cx="2148840" cy="2971800"/>
          </a:xfrm>
          <a:prstGeom prst="roundRect">
            <a:avLst>
              <a:gd name="adj" fmla="val 2553"/>
            </a:avLst>
          </a:prstGeom>
          <a:solidFill>
            <a:srgbClr val="DDF3F7"/>
          </a:solidFill>
          <a:ln w="12700">
            <a:solidFill>
              <a:srgbClr val="9DCFD9"/>
            </a:solidFill>
            <a:prstDash val="solid"/>
          </a:ln>
          <a:effectLst>
            <a:outerShdw blurRad="38100" dist="15240" dir="2700000" algn="bl" rotWithShape="0">
              <a:srgbClr val="20313E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4308A7A5-3D8C-EB5E-A9F0-B308F4344E80}"/>
              </a:ext>
            </a:extLst>
          </p:cNvPr>
          <p:cNvSpPr/>
          <p:nvPr/>
        </p:nvSpPr>
        <p:spPr>
          <a:xfrm>
            <a:off x="8952211" y="1908143"/>
            <a:ext cx="2148840" cy="2971800"/>
          </a:xfrm>
          <a:prstGeom prst="roundRect">
            <a:avLst>
              <a:gd name="adj" fmla="val 2553"/>
            </a:avLst>
          </a:prstGeom>
          <a:solidFill>
            <a:srgbClr val="F1ECE4"/>
          </a:solidFill>
          <a:ln w="12700">
            <a:solidFill>
              <a:srgbClr val="CFC7B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24059C06-CACF-A5E4-B5E7-89B8253B9C08}"/>
              </a:ext>
            </a:extLst>
          </p:cNvPr>
          <p:cNvSpPr/>
          <p:nvPr/>
        </p:nvSpPr>
        <p:spPr>
          <a:xfrm>
            <a:off x="6821659" y="2182463"/>
            <a:ext cx="1508760" cy="310896"/>
          </a:xfrm>
          <a:prstGeom prst="round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606B63AC-C304-581B-9283-76A23D866387}"/>
              </a:ext>
            </a:extLst>
          </p:cNvPr>
          <p:cNvSpPr/>
          <p:nvPr/>
        </p:nvSpPr>
        <p:spPr>
          <a:xfrm>
            <a:off x="6821659" y="2182463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观察到的世界</a:t>
            </a:r>
            <a:endParaRPr lang="en-US" sz="105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7D30438F-B532-57C8-F1FA-B5C6BB849B7B}"/>
              </a:ext>
            </a:extLst>
          </p:cNvPr>
          <p:cNvSpPr/>
          <p:nvPr/>
        </p:nvSpPr>
        <p:spPr>
          <a:xfrm>
            <a:off x="9272251" y="2182463"/>
            <a:ext cx="1508760" cy="310896"/>
          </a:xfrm>
          <a:prstGeom prst="roundRect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DE84AA9F-3021-33EB-0024-08571A364531}"/>
              </a:ext>
            </a:extLst>
          </p:cNvPr>
          <p:cNvSpPr/>
          <p:nvPr/>
        </p:nvSpPr>
        <p:spPr>
          <a:xfrm>
            <a:off x="9272251" y="2182463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6571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未观察的世界</a:t>
            </a:r>
            <a:endParaRPr lang="en-US" sz="1050" dirty="0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87973295-2BE8-2823-DC8C-204B95CBE914}"/>
              </a:ext>
            </a:extLst>
          </p:cNvPr>
          <p:cNvSpPr/>
          <p:nvPr/>
        </p:nvSpPr>
        <p:spPr>
          <a:xfrm>
            <a:off x="7324579" y="2895695"/>
            <a:ext cx="502920" cy="502920"/>
          </a:xfrm>
          <a:prstGeom prst="ellipse">
            <a:avLst/>
          </a:prstGeom>
          <a:solidFill>
            <a:srgbClr val="C96B36"/>
          </a:solidFill>
          <a:ln w="7620">
            <a:solidFill>
              <a:srgbClr val="C96B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1336964F-F73D-2D1B-C009-0798ECD264AF}"/>
              </a:ext>
            </a:extLst>
          </p:cNvPr>
          <p:cNvSpPr/>
          <p:nvPr/>
        </p:nvSpPr>
        <p:spPr>
          <a:xfrm>
            <a:off x="6839947" y="3490055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同一个学生</a:t>
            </a:r>
            <a:endParaRPr lang="en-US" sz="140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使用 AI</a:t>
            </a:r>
            <a:endParaRPr lang="en-US" sz="140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1D7B61B5-AE2A-2E1A-02EB-B0DFED0B45C0}"/>
              </a:ext>
            </a:extLst>
          </p:cNvPr>
          <p:cNvSpPr/>
          <p:nvPr/>
        </p:nvSpPr>
        <p:spPr>
          <a:xfrm>
            <a:off x="9729451" y="2895695"/>
            <a:ext cx="502920" cy="502920"/>
          </a:xfrm>
          <a:prstGeom prst="ellipse">
            <a:avLst/>
          </a:prstGeom>
          <a:solidFill>
            <a:srgbClr val="DAD4CA">
              <a:alpha val="60000"/>
            </a:srgbClr>
          </a:solidFill>
          <a:ln w="12700">
            <a:solidFill>
              <a:srgbClr val="65717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E8172626-35D9-188D-EAEF-454FA1F3BA6A}"/>
              </a:ext>
            </a:extLst>
          </p:cNvPr>
          <p:cNvSpPr/>
          <p:nvPr/>
        </p:nvSpPr>
        <p:spPr>
          <a:xfrm>
            <a:off x="9290539" y="3490055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6571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同一个学生</a:t>
            </a:r>
            <a:endParaRPr lang="en-US" sz="1400" dirty="0"/>
          </a:p>
          <a:p>
            <a:pPr marL="0" indent="0" algn="ctr">
              <a:buNone/>
              <a:defRPr/>
            </a:pPr>
            <a:r>
              <a:rPr lang="en-US" sz="1700" b="1" dirty="0">
                <a:solidFill>
                  <a:srgbClr val="6571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不使用 AI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60883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从数据到结论，哪一种说法成立？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Ellipse 10"/>
          <p:cNvSpPr/>
          <p:nvPr/>
        </p:nvSpPr>
        <p:spPr>
          <a:xfrm>
            <a:off x="5501056" y="2966776"/>
            <a:ext cx="304800" cy="3048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TextBox 11"/>
          <p:cNvSpPr txBox="1"/>
          <p:nvPr/>
        </p:nvSpPr>
        <p:spPr>
          <a:xfrm>
            <a:off x="5579718" y="3030594"/>
            <a:ext cx="147477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77687" y="2937439"/>
            <a:ext cx="4001095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数据：左边表格是如何来的？</a:t>
            </a:r>
            <a:endParaRPr lang="zh-CN" sz="2400" dirty="0">
              <a:solidFill>
                <a:srgbClr val="20242A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3" name="Ellipse 13"/>
          <p:cNvSpPr/>
          <p:nvPr/>
        </p:nvSpPr>
        <p:spPr>
          <a:xfrm>
            <a:off x="5501056" y="3627664"/>
            <a:ext cx="304800" cy="3048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Box 14"/>
          <p:cNvSpPr txBox="1"/>
          <p:nvPr/>
        </p:nvSpPr>
        <p:spPr>
          <a:xfrm>
            <a:off x="5579718" y="3656313"/>
            <a:ext cx="147477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77687" y="3610666"/>
            <a:ext cx="4924425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信息：看左边的表能得到什么信息？</a:t>
            </a:r>
            <a:endParaRPr lang="zh-CN" altLang="zh-CN" sz="2400" dirty="0">
              <a:solidFill>
                <a:srgbClr val="20242A"/>
              </a:solidFill>
              <a:latin typeface="Arial"/>
              <a:ea typeface="Microsoft YaHei"/>
              <a:cs typeface="Arial"/>
            </a:endParaRPr>
          </a:p>
          <a:p>
            <a:endParaRPr lang="zh-CN" altLang="zh-CN" sz="2400" dirty="0">
              <a:solidFill>
                <a:srgbClr val="20242A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17 / 43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graphicFrame>
        <p:nvGraphicFramePr>
          <p:cNvPr id="26" name="Table 0">
            <a:extLst>
              <a:ext uri="{FF2B5EF4-FFF2-40B4-BE49-F238E27FC236}">
                <a16:creationId xmlns:a16="http://schemas.microsoft.com/office/drawing/2014/main" id="{F06A1A24-1C44-1EB4-F814-D9BD2D324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409956"/>
              </p:ext>
            </p:extLst>
          </p:nvPr>
        </p:nvGraphicFramePr>
        <p:xfrm>
          <a:off x="0" y="2161604"/>
          <a:ext cx="5243146" cy="3119628"/>
        </p:xfrm>
        <a:graphic>
          <a:graphicData uri="http://schemas.openxmlformats.org/drawingml/2006/table">
            <a:tbl>
              <a:tblPr/>
              <a:tblGrid>
                <a:gridCol w="224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变量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模型（1）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模型（2）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AI 使用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6.00***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（</a:t>
                      </a:r>
                      <a:r>
                        <a:rPr lang="en-US" altLang="zh-CN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0.21</a:t>
                      </a:r>
                      <a:r>
                        <a:rPr lang="zh-CN" alt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）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1.20</a:t>
                      </a:r>
                      <a:r>
                        <a:rPr lang="en-US" altLang="zh-CN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***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（</a:t>
                      </a:r>
                      <a:r>
                        <a:rPr lang="en-US" altLang="zh-CN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0.32</a:t>
                      </a:r>
                      <a:r>
                        <a:rPr lang="zh-CN" alt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）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控制原有成绩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否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是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控制专业差异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否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0242A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是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N</a:t>
                      </a: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1000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dirty="0">
                          <a:latin typeface="Arial Unicode MS" charset="0"/>
                          <a:ea typeface="Arial Unicode MS" charset="0"/>
                          <a:cs typeface="Arial Unicode MS" charset="0"/>
                        </a:rPr>
                        <a:t>1000</a:t>
                      </a:r>
                      <a:endParaRPr lang="en-US" sz="20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046304"/>
                  </a:ext>
                </a:extLst>
              </a:tr>
            </a:tbl>
          </a:graphicData>
        </a:graphic>
      </p:graphicFrame>
      <p:sp>
        <p:nvSpPr>
          <p:cNvPr id="6" name="TextBox 15">
            <a:extLst>
              <a:ext uri="{FF2B5EF4-FFF2-40B4-BE49-F238E27FC236}">
                <a16:creationId xmlns:a16="http://schemas.microsoft.com/office/drawing/2014/main" id="{041E9ED8-4889-59B6-B78C-8B7600302ACA}"/>
              </a:ext>
            </a:extLst>
          </p:cNvPr>
          <p:cNvSpPr txBox="1"/>
          <p:nvPr/>
        </p:nvSpPr>
        <p:spPr>
          <a:xfrm>
            <a:off x="5977687" y="4283893"/>
            <a:ext cx="6463308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知识：如何得到更可靠的信息？从而提炼知识？</a:t>
            </a:r>
            <a:endParaRPr lang="zh-CN" altLang="zh-CN" sz="2400" dirty="0">
              <a:solidFill>
                <a:srgbClr val="20242A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7" name="Ellipse 10">
            <a:extLst>
              <a:ext uri="{FF2B5EF4-FFF2-40B4-BE49-F238E27FC236}">
                <a16:creationId xmlns:a16="http://schemas.microsoft.com/office/drawing/2014/main" id="{119F6748-6D27-A213-37DE-8D0C0B1809F9}"/>
              </a:ext>
            </a:extLst>
          </p:cNvPr>
          <p:cNvSpPr/>
          <p:nvPr/>
        </p:nvSpPr>
        <p:spPr>
          <a:xfrm>
            <a:off x="5547949" y="4303204"/>
            <a:ext cx="304800" cy="3048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B0AB736-E27D-F83A-C954-7D3083FDE6A0}"/>
              </a:ext>
            </a:extLst>
          </p:cNvPr>
          <p:cNvSpPr txBox="1"/>
          <p:nvPr/>
        </p:nvSpPr>
        <p:spPr>
          <a:xfrm>
            <a:off x="5626612" y="4367022"/>
            <a:ext cx="14747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 animBg="1"/>
      <p:bldP spid="14" grpId="0"/>
      <p:bldP spid="15" grpId="0"/>
      <p:bldP spid="6" grpId="0"/>
      <p:bldP spid="7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3847207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计量经济学建立证据链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6"/>
          <p:cNvSpPr/>
          <p:nvPr/>
        </p:nvSpPr>
        <p:spPr>
          <a:xfrm>
            <a:off x="1333500" y="3695697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7"/>
          <p:cNvSpPr/>
          <p:nvPr/>
        </p:nvSpPr>
        <p:spPr>
          <a:xfrm>
            <a:off x="1333500" y="3695697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589532" y="3897627"/>
            <a:ext cx="906780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计量经济学不是从数据直接跳到结论，而是检查中间每一座桥是否可靠。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5259" y="4834887"/>
            <a:ext cx="11041484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从 4.915 推断企鹅需要模型和背景知识；从回归表得出经济结论同样需要模型、假设和识别策略。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18 / 43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E99BC68A-6D01-C0C9-6A61-4F187DFADE12}"/>
              </a:ext>
            </a:extLst>
          </p:cNvPr>
          <p:cNvSpPr/>
          <p:nvPr/>
        </p:nvSpPr>
        <p:spPr>
          <a:xfrm>
            <a:off x="713232" y="2029965"/>
            <a:ext cx="1620012" cy="1078992"/>
          </a:xfrm>
          <a:prstGeom prst="roundRect">
            <a:avLst>
              <a:gd name="adj" fmla="val 5085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0D87363D-1144-7562-A1F6-34A005B6C989}"/>
              </a:ext>
            </a:extLst>
          </p:cNvPr>
          <p:cNvSpPr/>
          <p:nvPr/>
        </p:nvSpPr>
        <p:spPr>
          <a:xfrm>
            <a:off x="804672" y="2139693"/>
            <a:ext cx="347472" cy="347472"/>
          </a:xfrm>
          <a:prstGeom prst="ellipse">
            <a:avLst/>
          </a:prstGeom>
          <a:solidFill>
            <a:srgbClr val="003153"/>
          </a:solidFill>
          <a:ln w="762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D52281A-88D3-6E24-9BDE-C4AB7808D8F2}"/>
              </a:ext>
            </a:extLst>
          </p:cNvPr>
          <p:cNvSpPr/>
          <p:nvPr/>
        </p:nvSpPr>
        <p:spPr>
          <a:xfrm>
            <a:off x="804672" y="213969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3426BBE-DB33-2111-77A6-89DD01C07384}"/>
              </a:ext>
            </a:extLst>
          </p:cNvPr>
          <p:cNvSpPr/>
          <p:nvPr/>
        </p:nvSpPr>
        <p:spPr>
          <a:xfrm>
            <a:off x="804672" y="2450589"/>
            <a:ext cx="14371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4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现实问题</a:t>
            </a:r>
            <a:endParaRPr lang="en-US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0BCFA22C-5E6F-582D-BE2E-A5977DB27CA3}"/>
              </a:ext>
            </a:extLst>
          </p:cNvPr>
          <p:cNvSpPr/>
          <p:nvPr/>
        </p:nvSpPr>
        <p:spPr>
          <a:xfrm>
            <a:off x="2360676" y="2569461"/>
            <a:ext cx="155448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8C846EB8-34F3-8329-04A4-F20A5C063E2F}"/>
              </a:ext>
            </a:extLst>
          </p:cNvPr>
          <p:cNvSpPr/>
          <p:nvPr/>
        </p:nvSpPr>
        <p:spPr>
          <a:xfrm>
            <a:off x="2543556" y="2029965"/>
            <a:ext cx="1620012" cy="1078992"/>
          </a:xfrm>
          <a:prstGeom prst="roundRect">
            <a:avLst>
              <a:gd name="adj" fmla="val 5085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C7B7F9F0-AC2B-0F7A-7CA2-6D95A8097068}"/>
              </a:ext>
            </a:extLst>
          </p:cNvPr>
          <p:cNvSpPr/>
          <p:nvPr/>
        </p:nvSpPr>
        <p:spPr>
          <a:xfrm>
            <a:off x="2634996" y="2139693"/>
            <a:ext cx="347472" cy="347472"/>
          </a:xfrm>
          <a:prstGeom prst="ellipse">
            <a:avLst/>
          </a:prstGeom>
          <a:solidFill>
            <a:srgbClr val="003153"/>
          </a:solidFill>
          <a:ln w="762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B069441E-76DF-D4D4-7098-D14797416C01}"/>
              </a:ext>
            </a:extLst>
          </p:cNvPr>
          <p:cNvSpPr/>
          <p:nvPr/>
        </p:nvSpPr>
        <p:spPr>
          <a:xfrm>
            <a:off x="2634996" y="213969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1FB35CBE-4F06-5920-E42B-3A8510465178}"/>
              </a:ext>
            </a:extLst>
          </p:cNvPr>
          <p:cNvSpPr/>
          <p:nvPr/>
        </p:nvSpPr>
        <p:spPr>
          <a:xfrm>
            <a:off x="2634996" y="2450589"/>
            <a:ext cx="14371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4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</a:t>
            </a:r>
            <a:endParaRPr lang="en-US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F2FE7235-BB93-6356-BE18-0742A0BC1CA5}"/>
              </a:ext>
            </a:extLst>
          </p:cNvPr>
          <p:cNvSpPr/>
          <p:nvPr/>
        </p:nvSpPr>
        <p:spPr>
          <a:xfrm>
            <a:off x="4191000" y="2569461"/>
            <a:ext cx="155448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90724823-AA5B-2E6C-17A6-3BFDF7AC02B5}"/>
              </a:ext>
            </a:extLst>
          </p:cNvPr>
          <p:cNvSpPr/>
          <p:nvPr/>
        </p:nvSpPr>
        <p:spPr>
          <a:xfrm>
            <a:off x="4373880" y="2029965"/>
            <a:ext cx="1620012" cy="1078992"/>
          </a:xfrm>
          <a:prstGeom prst="roundRect">
            <a:avLst>
              <a:gd name="adj" fmla="val 5085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735AFF8A-D748-1284-14EE-F25D8CD39FF0}"/>
              </a:ext>
            </a:extLst>
          </p:cNvPr>
          <p:cNvSpPr/>
          <p:nvPr/>
        </p:nvSpPr>
        <p:spPr>
          <a:xfrm>
            <a:off x="4465320" y="2139693"/>
            <a:ext cx="347472" cy="347472"/>
          </a:xfrm>
          <a:prstGeom prst="ellipse">
            <a:avLst/>
          </a:prstGeom>
          <a:solidFill>
            <a:srgbClr val="003153"/>
          </a:solidFill>
          <a:ln w="762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BF9A253D-0424-0CA4-1F63-8B2D46665809}"/>
              </a:ext>
            </a:extLst>
          </p:cNvPr>
          <p:cNvSpPr/>
          <p:nvPr/>
        </p:nvSpPr>
        <p:spPr>
          <a:xfrm>
            <a:off x="4465320" y="213969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AAF6D30A-DFC7-93CA-7C6A-3AF87F2D129A}"/>
              </a:ext>
            </a:extLst>
          </p:cNvPr>
          <p:cNvSpPr/>
          <p:nvPr/>
        </p:nvSpPr>
        <p:spPr>
          <a:xfrm>
            <a:off x="4465320" y="2450589"/>
            <a:ext cx="14371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4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信息</a:t>
            </a:r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0598AF9C-2668-6B8A-9D6E-2B94E9C475DB}"/>
              </a:ext>
            </a:extLst>
          </p:cNvPr>
          <p:cNvSpPr/>
          <p:nvPr/>
        </p:nvSpPr>
        <p:spPr>
          <a:xfrm>
            <a:off x="6021324" y="2569461"/>
            <a:ext cx="155448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5B2F157F-FBAE-3A4D-F1DD-693DA4EDFEE5}"/>
              </a:ext>
            </a:extLst>
          </p:cNvPr>
          <p:cNvSpPr/>
          <p:nvPr/>
        </p:nvSpPr>
        <p:spPr>
          <a:xfrm>
            <a:off x="6204204" y="2029965"/>
            <a:ext cx="1620012" cy="1078992"/>
          </a:xfrm>
          <a:prstGeom prst="roundRect">
            <a:avLst>
              <a:gd name="adj" fmla="val 5085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24691DAE-DE24-A216-39B5-8689DDE6A9B6}"/>
              </a:ext>
            </a:extLst>
          </p:cNvPr>
          <p:cNvSpPr/>
          <p:nvPr/>
        </p:nvSpPr>
        <p:spPr>
          <a:xfrm>
            <a:off x="6295644" y="2139693"/>
            <a:ext cx="347472" cy="347472"/>
          </a:xfrm>
          <a:prstGeom prst="ellipse">
            <a:avLst/>
          </a:prstGeom>
          <a:solidFill>
            <a:srgbClr val="003153"/>
          </a:solidFill>
          <a:ln w="762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F120D247-30AE-69A4-68F1-CA9068C18A92}"/>
              </a:ext>
            </a:extLst>
          </p:cNvPr>
          <p:cNvSpPr/>
          <p:nvPr/>
        </p:nvSpPr>
        <p:spPr>
          <a:xfrm>
            <a:off x="6295644" y="213969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6BB15369-086E-2178-13AC-3E5BAA54A56E}"/>
              </a:ext>
            </a:extLst>
          </p:cNvPr>
          <p:cNvSpPr/>
          <p:nvPr/>
        </p:nvSpPr>
        <p:spPr>
          <a:xfrm>
            <a:off x="6295644" y="2450589"/>
            <a:ext cx="14371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  <a:defRPr/>
            </a:pPr>
            <a:r>
              <a:rPr lang="en-US" sz="24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模型与识别</a:t>
            </a:r>
            <a:endParaRPr lang="en-US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65E9A8D0-AA83-CDF6-CE85-669D4FF019B4}"/>
              </a:ext>
            </a:extLst>
          </p:cNvPr>
          <p:cNvSpPr/>
          <p:nvPr/>
        </p:nvSpPr>
        <p:spPr>
          <a:xfrm>
            <a:off x="7851648" y="2569461"/>
            <a:ext cx="155448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24E6B962-700E-CE5A-08FB-95B1B26AF138}"/>
              </a:ext>
            </a:extLst>
          </p:cNvPr>
          <p:cNvSpPr/>
          <p:nvPr/>
        </p:nvSpPr>
        <p:spPr>
          <a:xfrm>
            <a:off x="8034528" y="2029965"/>
            <a:ext cx="1620012" cy="1078992"/>
          </a:xfrm>
          <a:prstGeom prst="roundRect">
            <a:avLst>
              <a:gd name="adj" fmla="val 5085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2EA4784C-D583-C8CD-8180-BD0297AA3777}"/>
              </a:ext>
            </a:extLst>
          </p:cNvPr>
          <p:cNvSpPr/>
          <p:nvPr/>
        </p:nvSpPr>
        <p:spPr>
          <a:xfrm>
            <a:off x="8125968" y="2139693"/>
            <a:ext cx="347472" cy="347472"/>
          </a:xfrm>
          <a:prstGeom prst="ellipse">
            <a:avLst/>
          </a:prstGeom>
          <a:solidFill>
            <a:srgbClr val="003153"/>
          </a:solidFill>
          <a:ln w="762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202C8C70-5582-C990-CBE0-5EE531210BB1}"/>
              </a:ext>
            </a:extLst>
          </p:cNvPr>
          <p:cNvSpPr/>
          <p:nvPr/>
        </p:nvSpPr>
        <p:spPr>
          <a:xfrm>
            <a:off x="8125968" y="213969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ADA307C5-0E31-B9EF-8DA9-F3F61B9FBC07}"/>
              </a:ext>
            </a:extLst>
          </p:cNvPr>
          <p:cNvSpPr/>
          <p:nvPr/>
        </p:nvSpPr>
        <p:spPr>
          <a:xfrm>
            <a:off x="8125968" y="2450589"/>
            <a:ext cx="14371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400" b="1" dirty="0" err="1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结论</a:t>
            </a:r>
            <a:endParaRPr lang="en-US" dirty="0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12EBFBBC-08FA-FC84-48A5-5DAE533CADF2}"/>
              </a:ext>
            </a:extLst>
          </p:cNvPr>
          <p:cNvSpPr/>
          <p:nvPr/>
        </p:nvSpPr>
        <p:spPr>
          <a:xfrm>
            <a:off x="9681972" y="2569461"/>
            <a:ext cx="155448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A5380A83-D231-7D74-7958-B48D6ECC04D8}"/>
              </a:ext>
            </a:extLst>
          </p:cNvPr>
          <p:cNvSpPr/>
          <p:nvPr/>
        </p:nvSpPr>
        <p:spPr>
          <a:xfrm>
            <a:off x="9864852" y="2029965"/>
            <a:ext cx="1620012" cy="1078992"/>
          </a:xfrm>
          <a:prstGeom prst="roundRect">
            <a:avLst>
              <a:gd name="adj" fmla="val 5085"/>
            </a:avLst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357B25BA-9D1D-509D-B0E9-1E555BDE3A8F}"/>
              </a:ext>
            </a:extLst>
          </p:cNvPr>
          <p:cNvSpPr/>
          <p:nvPr/>
        </p:nvSpPr>
        <p:spPr>
          <a:xfrm>
            <a:off x="9956292" y="2139693"/>
            <a:ext cx="347472" cy="347472"/>
          </a:xfrm>
          <a:prstGeom prst="ellipse">
            <a:avLst/>
          </a:prstGeom>
          <a:solidFill>
            <a:srgbClr val="C96B36"/>
          </a:solidFill>
          <a:ln w="7620">
            <a:solidFill>
              <a:srgbClr val="C96B3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FA2DE435-E8C4-9AE4-9CC3-6701928103F1}"/>
              </a:ext>
            </a:extLst>
          </p:cNvPr>
          <p:cNvSpPr/>
          <p:nvPr/>
        </p:nvSpPr>
        <p:spPr>
          <a:xfrm>
            <a:off x="9956292" y="213969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D3A24346-15F5-687C-5C14-CEDDC022F58B}"/>
              </a:ext>
            </a:extLst>
          </p:cNvPr>
          <p:cNvSpPr/>
          <p:nvPr/>
        </p:nvSpPr>
        <p:spPr>
          <a:xfrm>
            <a:off x="9956292" y="2450589"/>
            <a:ext cx="14371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400" b="1" dirty="0" err="1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知识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1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0" b="1" i="0" u="none" strike="noStrike" kern="1200" cap="none" spc="0" normalizeH="0" baseline="0" noProof="0" dirty="0">
                <a:ln>
                  <a:noFill/>
                </a:ln>
                <a:solidFill>
                  <a:srgbClr val="0B4666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kumimoji="0" lang="en-US" sz="1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6384" y="19019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A9DCE8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 2 部分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6384" y="2331720"/>
            <a:ext cx="9966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 Agent 正在重构知识生产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7DCE3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当数据、代码和分析都可以交给 Agent，人应该走向哪里？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87968" y="1325880"/>
            <a:ext cx="0" cy="3337560"/>
          </a:xfrm>
          <a:prstGeom prst="line">
            <a:avLst/>
          </a:prstGeom>
          <a:noFill/>
          <a:ln w="19050">
            <a:solidFill>
              <a:srgbClr val="7FB8C6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778240" y="2889504"/>
            <a:ext cx="219456" cy="219456"/>
          </a:xfrm>
          <a:prstGeom prst="ellipse">
            <a:avLst/>
          </a:prstGeom>
          <a:solidFill>
            <a:srgbClr val="00A8CC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B8D0D9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中级计量经济学 · 第一讲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740896" y="6537960"/>
            <a:ext cx="91440" cy="91440"/>
          </a:xfrm>
          <a:prstGeom prst="ellipse">
            <a:avLst/>
          </a:prstGeom>
          <a:solidFill>
            <a:srgbClr val="00A8CC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39595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AI 以前的知识金字塔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20 / 43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B735A5A1-A620-25D4-21F9-4C5AC8CF2B70}"/>
              </a:ext>
            </a:extLst>
          </p:cNvPr>
          <p:cNvSpPr/>
          <p:nvPr/>
        </p:nvSpPr>
        <p:spPr>
          <a:xfrm>
            <a:off x="1178169" y="4338638"/>
            <a:ext cx="5669280" cy="1005840"/>
          </a:xfrm>
          <a:prstGeom prst="trapezoid">
            <a:avLst/>
          </a:prstGeom>
          <a:solidFill>
            <a:srgbClr val="C7E7EC"/>
          </a:solidFill>
          <a:ln w="12700">
            <a:solidFill>
              <a:srgbClr val="C7E7EC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AF74FBD3-01F2-5B9D-A00C-939460ABA257}"/>
              </a:ext>
            </a:extLst>
          </p:cNvPr>
          <p:cNvSpPr/>
          <p:nvPr/>
        </p:nvSpPr>
        <p:spPr>
          <a:xfrm>
            <a:off x="1178169" y="450323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数据与材料</a:t>
            </a:r>
            <a:endParaRPr lang="en-US" sz="2800" dirty="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3AA612AC-7407-DFEF-13BE-BDE60058619A}"/>
              </a:ext>
            </a:extLst>
          </p:cNvPr>
          <p:cNvSpPr/>
          <p:nvPr/>
        </p:nvSpPr>
        <p:spPr>
          <a:xfrm>
            <a:off x="1909689" y="3213926"/>
            <a:ext cx="4206240" cy="896112"/>
          </a:xfrm>
          <a:prstGeom prst="trapezoid">
            <a:avLst/>
          </a:prstGeom>
          <a:solidFill>
            <a:srgbClr val="6BBAC9"/>
          </a:solidFill>
          <a:ln w="12700">
            <a:solidFill>
              <a:srgbClr val="6BBAC9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EDE35C0-4265-9F69-2425-9510110A3548}"/>
              </a:ext>
            </a:extLst>
          </p:cNvPr>
          <p:cNvSpPr/>
          <p:nvPr/>
        </p:nvSpPr>
        <p:spPr>
          <a:xfrm>
            <a:off x="1909689" y="3378518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信息与分析</a:t>
            </a:r>
            <a:endParaRPr lang="en-US" sz="28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4032537D-3FBD-860B-E777-1AA94126DF39}"/>
              </a:ext>
            </a:extLst>
          </p:cNvPr>
          <p:cNvSpPr/>
          <p:nvPr/>
        </p:nvSpPr>
        <p:spPr>
          <a:xfrm>
            <a:off x="2613777" y="2208086"/>
            <a:ext cx="2834640" cy="786384"/>
          </a:xfrm>
          <a:prstGeom prst="trapezoid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60B4CF04-1379-462F-CB19-FE48E730EEF7}"/>
              </a:ext>
            </a:extLst>
          </p:cNvPr>
          <p:cNvSpPr/>
          <p:nvPr/>
        </p:nvSpPr>
        <p:spPr>
          <a:xfrm>
            <a:off x="2613777" y="2372678"/>
            <a:ext cx="2834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知识与判断</a:t>
            </a:r>
            <a:endParaRPr lang="en-US" sz="280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9768EEF7-D78C-F015-8892-85444EF78F9B}"/>
              </a:ext>
            </a:extLst>
          </p:cNvPr>
          <p:cNvSpPr/>
          <p:nvPr/>
        </p:nvSpPr>
        <p:spPr>
          <a:xfrm>
            <a:off x="7487529" y="2098358"/>
            <a:ext cx="3749040" cy="3246120"/>
          </a:xfrm>
          <a:prstGeom prst="roundRect">
            <a:avLst>
              <a:gd name="adj" fmla="val 1690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  <a:effectLst>
            <a:outerShdw blurRad="38100" dist="15240" dir="2700000" algn="bl" rotWithShape="0">
              <a:srgbClr val="20313E">
                <a:alpha val="12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34532027-ED0B-42EB-3082-C7D6F36588F7}"/>
              </a:ext>
            </a:extLst>
          </p:cNvPr>
          <p:cNvSpPr/>
          <p:nvPr/>
        </p:nvSpPr>
        <p:spPr>
          <a:xfrm>
            <a:off x="7789281" y="2354390"/>
            <a:ext cx="1143000" cy="310896"/>
          </a:xfrm>
          <a:prstGeom prst="roundRect">
            <a:avLst/>
          </a:prstGeom>
          <a:solidFill>
            <a:srgbClr val="F5DFDD"/>
          </a:solidFill>
          <a:ln w="12700">
            <a:solidFill>
              <a:srgbClr val="F5DFDD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342038A7-B20D-10E2-197F-D64A0FA0403E}"/>
              </a:ext>
            </a:extLst>
          </p:cNvPr>
          <p:cNvSpPr/>
          <p:nvPr/>
        </p:nvSpPr>
        <p:spPr>
          <a:xfrm>
            <a:off x="7789281" y="235439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2000" b="1" dirty="0">
                <a:solidFill>
                  <a:srgbClr val="A33A3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三个瓶颈</a:t>
            </a:r>
            <a:endParaRPr lang="en-US" sz="14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626965DE-DC22-DB94-4BF5-B6203D447B9F}"/>
              </a:ext>
            </a:extLst>
          </p:cNvPr>
          <p:cNvSpPr/>
          <p:nvPr/>
        </p:nvSpPr>
        <p:spPr>
          <a:xfrm>
            <a:off x="7807569" y="2994470"/>
            <a:ext cx="347472" cy="347472"/>
          </a:xfrm>
          <a:prstGeom prst="ellipse">
            <a:avLst/>
          </a:prstGeom>
          <a:solidFill>
            <a:srgbClr val="A33A3A"/>
          </a:solidFill>
          <a:ln w="762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64FCF2C8-F456-60E2-4C07-3A2C0482C83D}"/>
              </a:ext>
            </a:extLst>
          </p:cNvPr>
          <p:cNvSpPr/>
          <p:nvPr/>
        </p:nvSpPr>
        <p:spPr>
          <a:xfrm>
            <a:off x="7807569" y="29944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3F415F14-D55D-0880-E978-26334F0298BD}"/>
              </a:ext>
            </a:extLst>
          </p:cNvPr>
          <p:cNvSpPr/>
          <p:nvPr/>
        </p:nvSpPr>
        <p:spPr>
          <a:xfrm>
            <a:off x="8310489" y="297618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  <a:defRPr/>
            </a:pPr>
            <a:r>
              <a:rPr lang="en-US" sz="28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整理数据很慢</a:t>
            </a:r>
            <a:endParaRPr lang="en-US" sz="2400" dirty="0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78D8A2A0-2A95-F060-F993-5E149847E5C4}"/>
              </a:ext>
            </a:extLst>
          </p:cNvPr>
          <p:cNvSpPr/>
          <p:nvPr/>
        </p:nvSpPr>
        <p:spPr>
          <a:xfrm>
            <a:off x="7807569" y="3652838"/>
            <a:ext cx="347472" cy="347472"/>
          </a:xfrm>
          <a:prstGeom prst="ellipse">
            <a:avLst/>
          </a:prstGeom>
          <a:solidFill>
            <a:srgbClr val="A33A3A"/>
          </a:solidFill>
          <a:ln w="762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0D0CDC76-5F1C-DA3D-FD3F-2553816F166F}"/>
              </a:ext>
            </a:extLst>
          </p:cNvPr>
          <p:cNvSpPr/>
          <p:nvPr/>
        </p:nvSpPr>
        <p:spPr>
          <a:xfrm>
            <a:off x="7807569" y="365283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24685198-2661-D9B9-C184-4796EE618BDE}"/>
              </a:ext>
            </a:extLst>
          </p:cNvPr>
          <p:cNvSpPr/>
          <p:nvPr/>
        </p:nvSpPr>
        <p:spPr>
          <a:xfrm>
            <a:off x="8310489" y="363455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  <a:defRPr/>
            </a:pPr>
            <a:r>
              <a:rPr lang="en-US" sz="28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分析数据很难</a:t>
            </a:r>
            <a:endParaRPr lang="en-US" sz="2400" dirty="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E688F998-8130-23E4-CA97-5D73A09A0ACC}"/>
              </a:ext>
            </a:extLst>
          </p:cNvPr>
          <p:cNvSpPr/>
          <p:nvPr/>
        </p:nvSpPr>
        <p:spPr>
          <a:xfrm>
            <a:off x="7807569" y="4311206"/>
            <a:ext cx="347472" cy="347472"/>
          </a:xfrm>
          <a:prstGeom prst="ellipse">
            <a:avLst/>
          </a:prstGeom>
          <a:solidFill>
            <a:srgbClr val="A33A3A"/>
          </a:solidFill>
          <a:ln w="7620">
            <a:solidFill>
              <a:srgbClr val="A33A3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3DBCA60E-38AB-883B-0C25-CCAFBC503C58}"/>
              </a:ext>
            </a:extLst>
          </p:cNvPr>
          <p:cNvSpPr/>
          <p:nvPr/>
        </p:nvSpPr>
        <p:spPr>
          <a:xfrm>
            <a:off x="7807569" y="431120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395A5157-DCF2-73D3-0C87-A385C86A61EC}"/>
              </a:ext>
            </a:extLst>
          </p:cNvPr>
          <p:cNvSpPr/>
          <p:nvPr/>
        </p:nvSpPr>
        <p:spPr>
          <a:xfrm>
            <a:off x="8310489" y="429291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  <a:defRPr/>
            </a:pPr>
            <a:r>
              <a:rPr lang="en-US" sz="28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表达结果很耗时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从一次回答到连续行动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322832" y="1678305"/>
            <a:ext cx="185836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传统聊天式 AI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1308" y="2122170"/>
            <a:ext cx="168828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问题 </a:t>
            </a:r>
            <a:r>
              <a:rPr lang="en-US" sz="240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→</a:t>
            </a:r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 答案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2832" y="3297555"/>
            <a:ext cx="115062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5A6570"/>
                </a:solidFill>
                <a:latin typeface="Arial"/>
                <a:ea typeface="Arial"/>
                <a:cs typeface="Arial"/>
              </a:rPr>
              <a:t>AI Agent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3594" y="3789998"/>
            <a:ext cx="664685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目标 → 分解任务 → 调用工具 → 执行 → 检查 → 修正 → 交付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333500" y="5048250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1"/>
          <p:cNvSpPr/>
          <p:nvPr/>
        </p:nvSpPr>
        <p:spPr>
          <a:xfrm>
            <a:off x="1333500" y="5048250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589532" y="5250180"/>
            <a:ext cx="622081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AI Agent 把「一次回答」变成了「连续行动」。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21 / 43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786C40F8-8C16-6444-C045-C5427DE01DC1}"/>
              </a:ext>
            </a:extLst>
          </p:cNvPr>
          <p:cNvSpPr/>
          <p:nvPr/>
        </p:nvSpPr>
        <p:spPr>
          <a:xfrm>
            <a:off x="9806595" y="1388114"/>
            <a:ext cx="621792" cy="621792"/>
          </a:xfrm>
          <a:prstGeom prst="ellipse">
            <a:avLst/>
          </a:prstGeom>
          <a:solidFill>
            <a:srgbClr val="C96B36"/>
          </a:solidFill>
          <a:ln w="7620">
            <a:solidFill>
              <a:srgbClr val="C96B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BD972A28-08E4-1429-B0C4-0652CDE55EE8}"/>
              </a:ext>
            </a:extLst>
          </p:cNvPr>
          <p:cNvSpPr/>
          <p:nvPr/>
        </p:nvSpPr>
        <p:spPr>
          <a:xfrm>
            <a:off x="9806595" y="138811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目标</a:t>
            </a:r>
            <a:endParaRPr lang="en-US" sz="108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217BFAE3-B8F2-FD5C-B6CE-C6E282675B84}"/>
              </a:ext>
            </a:extLst>
          </p:cNvPr>
          <p:cNvSpPr/>
          <p:nvPr/>
        </p:nvSpPr>
        <p:spPr>
          <a:xfrm>
            <a:off x="10943910" y="1852065"/>
            <a:ext cx="621792" cy="621792"/>
          </a:xfrm>
          <a:prstGeom prst="ellipse">
            <a:avLst/>
          </a:prstGeom>
          <a:solidFill>
            <a:srgbClr val="00A8CC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2E0B5481-27BF-447D-090E-A9A8A895CCD0}"/>
              </a:ext>
            </a:extLst>
          </p:cNvPr>
          <p:cNvSpPr/>
          <p:nvPr/>
        </p:nvSpPr>
        <p:spPr>
          <a:xfrm>
            <a:off x="10943910" y="1852065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分解任务</a:t>
            </a:r>
            <a:endParaRPr lang="en-US" sz="108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A1265A83-041C-2293-F8BD-63FA5A8449B7}"/>
              </a:ext>
            </a:extLst>
          </p:cNvPr>
          <p:cNvSpPr/>
          <p:nvPr/>
        </p:nvSpPr>
        <p:spPr>
          <a:xfrm>
            <a:off x="11305873" y="3105284"/>
            <a:ext cx="621792" cy="621792"/>
          </a:xfrm>
          <a:prstGeom prst="ellipse">
            <a:avLst/>
          </a:prstGeom>
          <a:solidFill>
            <a:srgbClr val="00A8CC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93BF99DE-6963-4E63-0C7B-688E28ABEB8C}"/>
              </a:ext>
            </a:extLst>
          </p:cNvPr>
          <p:cNvSpPr/>
          <p:nvPr/>
        </p:nvSpPr>
        <p:spPr>
          <a:xfrm>
            <a:off x="11305873" y="31052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调用工具</a:t>
            </a:r>
            <a:endParaRPr lang="en-US" sz="108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8CE02A13-AF39-E8AB-4EBB-56CA070F5A44}"/>
              </a:ext>
            </a:extLst>
          </p:cNvPr>
          <p:cNvSpPr/>
          <p:nvPr/>
        </p:nvSpPr>
        <p:spPr>
          <a:xfrm>
            <a:off x="10713703" y="3969612"/>
            <a:ext cx="621792" cy="621792"/>
          </a:xfrm>
          <a:prstGeom prst="ellipse">
            <a:avLst/>
          </a:prstGeom>
          <a:solidFill>
            <a:srgbClr val="00A8CC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8AE8F4D7-5303-D295-6706-BE434D143AD7}"/>
              </a:ext>
            </a:extLst>
          </p:cNvPr>
          <p:cNvSpPr/>
          <p:nvPr/>
        </p:nvSpPr>
        <p:spPr>
          <a:xfrm>
            <a:off x="10713703" y="39696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执行</a:t>
            </a:r>
            <a:endParaRPr lang="en-US" sz="108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783D14C7-7A7A-7418-C1D7-6B9E46875235}"/>
              </a:ext>
            </a:extLst>
          </p:cNvPr>
          <p:cNvSpPr/>
          <p:nvPr/>
        </p:nvSpPr>
        <p:spPr>
          <a:xfrm>
            <a:off x="9450468" y="3957889"/>
            <a:ext cx="621792" cy="621792"/>
          </a:xfrm>
          <a:prstGeom prst="ellipse">
            <a:avLst/>
          </a:prstGeom>
          <a:solidFill>
            <a:srgbClr val="00A8CC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D4169DD6-7596-569B-6AA2-91E1519D6A94}"/>
              </a:ext>
            </a:extLst>
          </p:cNvPr>
          <p:cNvSpPr/>
          <p:nvPr/>
        </p:nvSpPr>
        <p:spPr>
          <a:xfrm>
            <a:off x="9450468" y="3957889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检查</a:t>
            </a:r>
            <a:endParaRPr lang="en-US" sz="1080" dirty="0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5E0E06BD-D066-850D-E7AD-AB23C289E98B}"/>
              </a:ext>
            </a:extLst>
          </p:cNvPr>
          <p:cNvSpPr/>
          <p:nvPr/>
        </p:nvSpPr>
        <p:spPr>
          <a:xfrm>
            <a:off x="8553500" y="3105284"/>
            <a:ext cx="621792" cy="621792"/>
          </a:xfrm>
          <a:prstGeom prst="ellipse">
            <a:avLst/>
          </a:prstGeom>
          <a:solidFill>
            <a:srgbClr val="00A8CC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FD109EC8-905B-7413-E4D7-41CB9472A32E}"/>
              </a:ext>
            </a:extLst>
          </p:cNvPr>
          <p:cNvSpPr/>
          <p:nvPr/>
        </p:nvSpPr>
        <p:spPr>
          <a:xfrm>
            <a:off x="8553500" y="31052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修正</a:t>
            </a:r>
            <a:endParaRPr lang="en-US" sz="108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6704BFCE-BF6E-13BA-B66F-A566239FB287}"/>
              </a:ext>
            </a:extLst>
          </p:cNvPr>
          <p:cNvSpPr/>
          <p:nvPr/>
        </p:nvSpPr>
        <p:spPr>
          <a:xfrm>
            <a:off x="8798233" y="1852065"/>
            <a:ext cx="621792" cy="621792"/>
          </a:xfrm>
          <a:prstGeom prst="ellipse">
            <a:avLst/>
          </a:prstGeom>
          <a:solidFill>
            <a:srgbClr val="00A8CC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9CEA0D6C-2C52-E03F-2A47-23E2926397D4}"/>
              </a:ext>
            </a:extLst>
          </p:cNvPr>
          <p:cNvSpPr/>
          <p:nvPr/>
        </p:nvSpPr>
        <p:spPr>
          <a:xfrm>
            <a:off x="8798233" y="1852065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交付</a:t>
            </a:r>
            <a:endParaRPr lang="en-US" sz="1080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EE324ECA-D431-CB20-57B8-6DCA18027AA9}"/>
              </a:ext>
            </a:extLst>
          </p:cNvPr>
          <p:cNvSpPr/>
          <p:nvPr/>
        </p:nvSpPr>
        <p:spPr>
          <a:xfrm>
            <a:off x="9690067" y="2565346"/>
            <a:ext cx="1042416" cy="1042416"/>
          </a:xfrm>
          <a:prstGeom prst="ellipse">
            <a:avLst/>
          </a:prstGeom>
          <a:solidFill>
            <a:srgbClr val="003153"/>
          </a:solidFill>
          <a:ln w="762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5AF38F92-B867-7450-F432-839A0C9D831F}"/>
              </a:ext>
            </a:extLst>
          </p:cNvPr>
          <p:cNvSpPr/>
          <p:nvPr/>
        </p:nvSpPr>
        <p:spPr>
          <a:xfrm>
            <a:off x="9690067" y="2565346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Agent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数据层正在发生什么？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6"/>
          <p:cNvSpPr/>
          <p:nvPr/>
        </p:nvSpPr>
        <p:spPr>
          <a:xfrm>
            <a:off x="1333500" y="5334000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 27"/>
          <p:cNvSpPr/>
          <p:nvPr/>
        </p:nvSpPr>
        <p:spPr>
          <a:xfrm>
            <a:off x="1333500" y="5334000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1589532" y="5535930"/>
            <a:ext cx="624078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数据工作正在从「手工操作」转向「任务编排」。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22 / 43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8881A4A8-ECEE-0F61-F12F-7BD68739E36B}"/>
              </a:ext>
            </a:extLst>
          </p:cNvPr>
          <p:cNvSpPr/>
          <p:nvPr/>
        </p:nvSpPr>
        <p:spPr>
          <a:xfrm>
            <a:off x="963930" y="2330242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BCD9B83D-0958-545B-B249-DCFDB2338420}"/>
              </a:ext>
            </a:extLst>
          </p:cNvPr>
          <p:cNvSpPr/>
          <p:nvPr/>
        </p:nvSpPr>
        <p:spPr>
          <a:xfrm>
            <a:off x="963930" y="251312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CSV</a:t>
            </a:r>
            <a:endParaRPr lang="en-US" sz="16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11561A60-43F3-8293-BE9E-E02105BD6121}"/>
              </a:ext>
            </a:extLst>
          </p:cNvPr>
          <p:cNvSpPr/>
          <p:nvPr/>
        </p:nvSpPr>
        <p:spPr>
          <a:xfrm>
            <a:off x="2289810" y="2330242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F4E2D4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0B3ED17-C077-468F-FB9B-0584F2B11D55}"/>
              </a:ext>
            </a:extLst>
          </p:cNvPr>
          <p:cNvSpPr/>
          <p:nvPr/>
        </p:nvSpPr>
        <p:spPr>
          <a:xfrm>
            <a:off x="2289810" y="251312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PDF</a:t>
            </a:r>
            <a:endParaRPr lang="en-US" sz="160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CE66B6C1-8A07-4815-C1CD-7265DA9E9AA0}"/>
              </a:ext>
            </a:extLst>
          </p:cNvPr>
          <p:cNvSpPr/>
          <p:nvPr/>
        </p:nvSpPr>
        <p:spPr>
          <a:xfrm>
            <a:off x="963930" y="3409234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EE812145-3BA6-5FC4-E2B8-D252277CFEB8}"/>
              </a:ext>
            </a:extLst>
          </p:cNvPr>
          <p:cNvSpPr/>
          <p:nvPr/>
        </p:nvSpPr>
        <p:spPr>
          <a:xfrm>
            <a:off x="963930" y="359211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dta</a:t>
            </a:r>
            <a:endParaRPr lang="en-US" sz="1600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B8DD04D5-B659-728E-219E-98E1845C3FD8}"/>
              </a:ext>
            </a:extLst>
          </p:cNvPr>
          <p:cNvSpPr/>
          <p:nvPr/>
        </p:nvSpPr>
        <p:spPr>
          <a:xfrm>
            <a:off x="2289810" y="3409234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B55CC3B3-2FE7-1383-B4FD-735EC6596055}"/>
              </a:ext>
            </a:extLst>
          </p:cNvPr>
          <p:cNvSpPr/>
          <p:nvPr/>
        </p:nvSpPr>
        <p:spPr>
          <a:xfrm>
            <a:off x="2289810" y="359211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XLS</a:t>
            </a:r>
            <a:endParaRPr lang="en-US" sz="160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E91FF24C-16B6-731A-E883-BE4B478456B4}"/>
              </a:ext>
            </a:extLst>
          </p:cNvPr>
          <p:cNvSpPr/>
          <p:nvPr/>
        </p:nvSpPr>
        <p:spPr>
          <a:xfrm>
            <a:off x="3460242" y="3257305"/>
            <a:ext cx="841248" cy="0"/>
          </a:xfrm>
          <a:prstGeom prst="line">
            <a:avLst/>
          </a:prstGeom>
          <a:noFill/>
          <a:ln w="31750">
            <a:solidFill>
              <a:srgbClr val="C96B3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608C57CE-92E1-F070-7F00-F41F627DB519}"/>
              </a:ext>
            </a:extLst>
          </p:cNvPr>
          <p:cNvSpPr/>
          <p:nvPr/>
        </p:nvSpPr>
        <p:spPr>
          <a:xfrm>
            <a:off x="4402074" y="2690142"/>
            <a:ext cx="1298448" cy="1298448"/>
          </a:xfrm>
          <a:prstGeom prst="ellipse">
            <a:avLst/>
          </a:prstGeom>
          <a:solidFill>
            <a:srgbClr val="003153"/>
          </a:solidFill>
          <a:ln w="762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665DE6FE-9691-201E-4F3D-630A9BCCA89F}"/>
              </a:ext>
            </a:extLst>
          </p:cNvPr>
          <p:cNvSpPr/>
          <p:nvPr/>
        </p:nvSpPr>
        <p:spPr>
          <a:xfrm>
            <a:off x="4402074" y="2690142"/>
            <a:ext cx="12984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Agent</a:t>
            </a:r>
            <a:endParaRPr lang="en-US" sz="2000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0A078A45-E0F0-5960-57AB-D673F382F429}"/>
              </a:ext>
            </a:extLst>
          </p:cNvPr>
          <p:cNvSpPr/>
          <p:nvPr/>
        </p:nvSpPr>
        <p:spPr>
          <a:xfrm>
            <a:off x="5810250" y="3222136"/>
            <a:ext cx="841248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8E882C9B-0C1C-E559-FE06-1FFCC243E58D}"/>
              </a:ext>
            </a:extLst>
          </p:cNvPr>
          <p:cNvSpPr/>
          <p:nvPr/>
        </p:nvSpPr>
        <p:spPr>
          <a:xfrm>
            <a:off x="6816090" y="1837641"/>
            <a:ext cx="4709160" cy="2488890"/>
          </a:xfrm>
          <a:prstGeom prst="roundRect">
            <a:avLst>
              <a:gd name="adj" fmla="val 1935"/>
            </a:avLst>
          </a:prstGeom>
          <a:solidFill>
            <a:srgbClr val="DDF3F7"/>
          </a:solidFill>
          <a:ln w="12700">
            <a:solidFill>
              <a:srgbClr val="9DD1DA"/>
            </a:solidFill>
            <a:prstDash val="solid"/>
          </a:ln>
          <a:effectLst>
            <a:outerShdw blurRad="38100" dist="15240" dir="2700000" algn="bl" rotWithShape="0">
              <a:srgbClr val="20313E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4E9B810F-2CE1-CD4C-AE4D-4168B23DD60C}"/>
              </a:ext>
            </a:extLst>
          </p:cNvPr>
          <p:cNvSpPr/>
          <p:nvPr/>
        </p:nvSpPr>
        <p:spPr>
          <a:xfrm>
            <a:off x="7117842" y="2130249"/>
            <a:ext cx="1691640" cy="310896"/>
          </a:xfrm>
          <a:prstGeom prst="roundRect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C62C401B-116F-9A35-C567-D6733B31C420}"/>
              </a:ext>
            </a:extLst>
          </p:cNvPr>
          <p:cNvSpPr/>
          <p:nvPr/>
        </p:nvSpPr>
        <p:spPr>
          <a:xfrm>
            <a:off x="7117842" y="2130249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整理后的交付物</a:t>
            </a:r>
            <a:endParaRPr lang="en-US" sz="1050" dirty="0"/>
          </a:p>
        </p:txBody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1C22D9BC-1EBD-54E1-BC8B-FAA0446B6995}"/>
              </a:ext>
            </a:extLst>
          </p:cNvPr>
          <p:cNvSpPr/>
          <p:nvPr/>
        </p:nvSpPr>
        <p:spPr>
          <a:xfrm>
            <a:off x="7145274" y="2733753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DDC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5D7CB27A-5FED-E205-2772-50E5BD6955E8}"/>
              </a:ext>
            </a:extLst>
          </p:cNvPr>
          <p:cNvSpPr/>
          <p:nvPr/>
        </p:nvSpPr>
        <p:spPr>
          <a:xfrm>
            <a:off x="7145274" y="2852625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整洁数据集</a:t>
            </a:r>
            <a:endParaRPr lang="en-US" sz="1400" dirty="0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43206D2B-3448-BEB1-DC33-7B6732098002}"/>
              </a:ext>
            </a:extLst>
          </p:cNvPr>
          <p:cNvSpPr/>
          <p:nvPr/>
        </p:nvSpPr>
        <p:spPr>
          <a:xfrm>
            <a:off x="9175242" y="2733753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DDC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8B13CAEC-DAF1-BAE9-EFF7-4ABED488DB0F}"/>
              </a:ext>
            </a:extLst>
          </p:cNvPr>
          <p:cNvSpPr/>
          <p:nvPr/>
        </p:nvSpPr>
        <p:spPr>
          <a:xfrm>
            <a:off x="9175242" y="2852625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数据字典</a:t>
            </a:r>
            <a:endParaRPr lang="en-US" sz="1400" dirty="0"/>
          </a:p>
        </p:txBody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C36AFF7F-C837-406E-050E-69E81B197503}"/>
              </a:ext>
            </a:extLst>
          </p:cNvPr>
          <p:cNvSpPr/>
          <p:nvPr/>
        </p:nvSpPr>
        <p:spPr>
          <a:xfrm>
            <a:off x="7145274" y="3556713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DDC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8BEE3071-C09A-FDC5-827A-AA8EA559FBF5}"/>
              </a:ext>
            </a:extLst>
          </p:cNvPr>
          <p:cNvSpPr/>
          <p:nvPr/>
        </p:nvSpPr>
        <p:spPr>
          <a:xfrm>
            <a:off x="7145274" y="3675585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质量检查</a:t>
            </a:r>
            <a:endParaRPr lang="en-US" sz="1400" dirty="0"/>
          </a:p>
        </p:txBody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8DC9DE56-5B62-6B43-A96A-A6C0CCC86861}"/>
              </a:ext>
            </a:extLst>
          </p:cNvPr>
          <p:cNvSpPr/>
          <p:nvPr/>
        </p:nvSpPr>
        <p:spPr>
          <a:xfrm>
            <a:off x="9175242" y="3556713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DDC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29">
            <a:extLst>
              <a:ext uri="{FF2B5EF4-FFF2-40B4-BE49-F238E27FC236}">
                <a16:creationId xmlns:a16="http://schemas.microsoft.com/office/drawing/2014/main" id="{C7E91825-78B2-7285-456D-B4C30E1EF21D}"/>
              </a:ext>
            </a:extLst>
          </p:cNvPr>
          <p:cNvSpPr/>
          <p:nvPr/>
        </p:nvSpPr>
        <p:spPr>
          <a:xfrm>
            <a:off x="9175242" y="3675585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清理记录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">
            <a:extLst>
              <a:ext uri="{FF2B5EF4-FFF2-40B4-BE49-F238E27FC236}">
                <a16:creationId xmlns:a16="http://schemas.microsoft.com/office/drawing/2014/main" id="{AD64F974-558F-062F-8441-782DE6910ED7}"/>
              </a:ext>
            </a:extLst>
          </p:cNvPr>
          <p:cNvSpPr/>
          <p:nvPr/>
        </p:nvSpPr>
        <p:spPr>
          <a:xfrm>
            <a:off x="713232" y="1353312"/>
            <a:ext cx="1658112" cy="1005840"/>
          </a:xfrm>
          <a:prstGeom prst="roundRect">
            <a:avLst>
              <a:gd name="adj" fmla="val 5455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Shape 12">
            <a:extLst>
              <a:ext uri="{FF2B5EF4-FFF2-40B4-BE49-F238E27FC236}">
                <a16:creationId xmlns:a16="http://schemas.microsoft.com/office/drawing/2014/main" id="{BAAEA3FC-4E87-35D5-06AB-FCCE9C864EB6}"/>
              </a:ext>
            </a:extLst>
          </p:cNvPr>
          <p:cNvSpPr/>
          <p:nvPr/>
        </p:nvSpPr>
        <p:spPr>
          <a:xfrm>
            <a:off x="2535936" y="1353312"/>
            <a:ext cx="1658112" cy="1005840"/>
          </a:xfrm>
          <a:prstGeom prst="roundRect">
            <a:avLst>
              <a:gd name="adj" fmla="val 5455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Shape 17">
            <a:extLst>
              <a:ext uri="{FF2B5EF4-FFF2-40B4-BE49-F238E27FC236}">
                <a16:creationId xmlns:a16="http://schemas.microsoft.com/office/drawing/2014/main" id="{8E492F98-80B4-CCBE-DE5C-65D43CEB0882}"/>
              </a:ext>
            </a:extLst>
          </p:cNvPr>
          <p:cNvSpPr/>
          <p:nvPr/>
        </p:nvSpPr>
        <p:spPr>
          <a:xfrm>
            <a:off x="4358640" y="1353312"/>
            <a:ext cx="1658112" cy="1005840"/>
          </a:xfrm>
          <a:prstGeom prst="roundRect">
            <a:avLst>
              <a:gd name="adj" fmla="val 5455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Shape 22">
            <a:extLst>
              <a:ext uri="{FF2B5EF4-FFF2-40B4-BE49-F238E27FC236}">
                <a16:creationId xmlns:a16="http://schemas.microsoft.com/office/drawing/2014/main" id="{D72CF927-965B-B9AE-4A95-7FAFA1F0C355}"/>
              </a:ext>
            </a:extLst>
          </p:cNvPr>
          <p:cNvSpPr/>
          <p:nvPr/>
        </p:nvSpPr>
        <p:spPr>
          <a:xfrm>
            <a:off x="6181344" y="1353312"/>
            <a:ext cx="1658112" cy="1005840"/>
          </a:xfrm>
          <a:prstGeom prst="roundRect">
            <a:avLst>
              <a:gd name="adj" fmla="val 5455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Shape 27">
            <a:extLst>
              <a:ext uri="{FF2B5EF4-FFF2-40B4-BE49-F238E27FC236}">
                <a16:creationId xmlns:a16="http://schemas.microsoft.com/office/drawing/2014/main" id="{B952A0BC-82D3-6968-0D47-8D425B7036AA}"/>
              </a:ext>
            </a:extLst>
          </p:cNvPr>
          <p:cNvSpPr/>
          <p:nvPr/>
        </p:nvSpPr>
        <p:spPr>
          <a:xfrm>
            <a:off x="8004048" y="1353312"/>
            <a:ext cx="1658112" cy="1005840"/>
          </a:xfrm>
          <a:prstGeom prst="roundRect">
            <a:avLst>
              <a:gd name="adj" fmla="val 5455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Shape 32">
            <a:extLst>
              <a:ext uri="{FF2B5EF4-FFF2-40B4-BE49-F238E27FC236}">
                <a16:creationId xmlns:a16="http://schemas.microsoft.com/office/drawing/2014/main" id="{076DD6C4-1001-F07B-588F-A06C5C476363}"/>
              </a:ext>
            </a:extLst>
          </p:cNvPr>
          <p:cNvSpPr/>
          <p:nvPr/>
        </p:nvSpPr>
        <p:spPr>
          <a:xfrm>
            <a:off x="9826752" y="1353312"/>
            <a:ext cx="1658112" cy="1005840"/>
          </a:xfrm>
          <a:prstGeom prst="roundRect">
            <a:avLst>
              <a:gd name="adj" fmla="val 5455"/>
            </a:avLst>
          </a:prstGeom>
          <a:solidFill>
            <a:srgbClr val="FFFCF6"/>
          </a:solidFill>
          <a:ln w="12700">
            <a:solidFill>
              <a:srgbClr val="D4D8D8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信息层正在发生什么？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9"/>
          <p:cNvSpPr/>
          <p:nvPr/>
        </p:nvSpPr>
        <p:spPr>
          <a:xfrm>
            <a:off x="770795" y="5400675"/>
            <a:ext cx="10663302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770795" y="5400675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23 / 43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FF28CE1C-CE7F-B919-D56A-B8A192C76011}"/>
              </a:ext>
            </a:extLst>
          </p:cNvPr>
          <p:cNvSpPr/>
          <p:nvPr/>
        </p:nvSpPr>
        <p:spPr>
          <a:xfrm>
            <a:off x="804672" y="1463040"/>
            <a:ext cx="347472" cy="347472"/>
          </a:xfrm>
          <a:prstGeom prst="ellipse">
            <a:avLst/>
          </a:prstGeom>
          <a:solidFill>
            <a:srgbClr val="003153"/>
          </a:solidFill>
          <a:ln w="762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225C2520-9BB5-45AC-8A96-DD58DCF36B9E}"/>
              </a:ext>
            </a:extLst>
          </p:cNvPr>
          <p:cNvSpPr/>
          <p:nvPr/>
        </p:nvSpPr>
        <p:spPr>
          <a:xfrm>
            <a:off x="804672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338C9258-D02A-AAE9-9478-2165B9241F7E}"/>
              </a:ext>
            </a:extLst>
          </p:cNvPr>
          <p:cNvSpPr/>
          <p:nvPr/>
        </p:nvSpPr>
        <p:spPr>
          <a:xfrm>
            <a:off x="804672" y="1773936"/>
            <a:ext cx="1475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数据检查</a:t>
            </a:r>
            <a:endParaRPr lang="en-US" sz="1350" dirty="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7EB7D105-7749-5134-BEFA-13DABB1AD4C6}"/>
              </a:ext>
            </a:extLst>
          </p:cNvPr>
          <p:cNvSpPr/>
          <p:nvPr/>
        </p:nvSpPr>
        <p:spPr>
          <a:xfrm>
            <a:off x="2398776" y="1856232"/>
            <a:ext cx="109728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44215B9D-6634-2B66-C4AF-F766A00FDB25}"/>
              </a:ext>
            </a:extLst>
          </p:cNvPr>
          <p:cNvSpPr/>
          <p:nvPr/>
        </p:nvSpPr>
        <p:spPr>
          <a:xfrm>
            <a:off x="2627376" y="1463040"/>
            <a:ext cx="347472" cy="347472"/>
          </a:xfrm>
          <a:prstGeom prst="ellipse">
            <a:avLst/>
          </a:prstGeom>
          <a:solidFill>
            <a:srgbClr val="003153"/>
          </a:solidFill>
          <a:ln w="762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44568BEC-285C-1090-A4D3-6654E57D5EAE}"/>
              </a:ext>
            </a:extLst>
          </p:cNvPr>
          <p:cNvSpPr/>
          <p:nvPr/>
        </p:nvSpPr>
        <p:spPr>
          <a:xfrm>
            <a:off x="2627376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0A5D406A-F41B-217D-040A-73B5D69BF52A}"/>
              </a:ext>
            </a:extLst>
          </p:cNvPr>
          <p:cNvSpPr/>
          <p:nvPr/>
        </p:nvSpPr>
        <p:spPr>
          <a:xfrm>
            <a:off x="2627376" y="1773936"/>
            <a:ext cx="1475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描述统计</a:t>
            </a:r>
            <a:endParaRPr lang="en-US" sz="1350" dirty="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63D673AC-7D40-7CA8-AF09-115839ADC160}"/>
              </a:ext>
            </a:extLst>
          </p:cNvPr>
          <p:cNvSpPr/>
          <p:nvPr/>
        </p:nvSpPr>
        <p:spPr>
          <a:xfrm>
            <a:off x="4221480" y="1856232"/>
            <a:ext cx="109728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C23814E5-306A-4B65-196E-7406A46136F1}"/>
              </a:ext>
            </a:extLst>
          </p:cNvPr>
          <p:cNvSpPr/>
          <p:nvPr/>
        </p:nvSpPr>
        <p:spPr>
          <a:xfrm>
            <a:off x="4450080" y="1463040"/>
            <a:ext cx="347472" cy="347472"/>
          </a:xfrm>
          <a:prstGeom prst="ellipse">
            <a:avLst/>
          </a:prstGeom>
          <a:solidFill>
            <a:srgbClr val="003153"/>
          </a:solidFill>
          <a:ln w="762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49ED19D2-5CB9-4AEE-4210-1F5C035269EE}"/>
              </a:ext>
            </a:extLst>
          </p:cNvPr>
          <p:cNvSpPr/>
          <p:nvPr/>
        </p:nvSpPr>
        <p:spPr>
          <a:xfrm>
            <a:off x="445008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0BDE98D1-B334-B88C-60CE-87F67D543CCC}"/>
              </a:ext>
            </a:extLst>
          </p:cNvPr>
          <p:cNvSpPr/>
          <p:nvPr/>
        </p:nvSpPr>
        <p:spPr>
          <a:xfrm>
            <a:off x="4450080" y="1773936"/>
            <a:ext cx="1475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趋势图</a:t>
            </a:r>
            <a:endParaRPr lang="en-US" sz="1350" dirty="0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0E1816C2-0740-7DA0-F27E-D9B0BAB967A6}"/>
              </a:ext>
            </a:extLst>
          </p:cNvPr>
          <p:cNvSpPr/>
          <p:nvPr/>
        </p:nvSpPr>
        <p:spPr>
          <a:xfrm>
            <a:off x="6044184" y="1856232"/>
            <a:ext cx="109728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7E4DA1FD-4E31-FDF4-B5DB-8532A492AC1F}"/>
              </a:ext>
            </a:extLst>
          </p:cNvPr>
          <p:cNvSpPr/>
          <p:nvPr/>
        </p:nvSpPr>
        <p:spPr>
          <a:xfrm>
            <a:off x="6272784" y="1463040"/>
            <a:ext cx="347472" cy="347472"/>
          </a:xfrm>
          <a:prstGeom prst="ellipse">
            <a:avLst/>
          </a:prstGeom>
          <a:solidFill>
            <a:srgbClr val="003153"/>
          </a:solidFill>
          <a:ln w="762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02313A38-DAFB-5920-67BD-C19438ABA16E}"/>
              </a:ext>
            </a:extLst>
          </p:cNvPr>
          <p:cNvSpPr/>
          <p:nvPr/>
        </p:nvSpPr>
        <p:spPr>
          <a:xfrm>
            <a:off x="6272784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7DC30A6D-83A4-843F-126A-456E64325EB1}"/>
              </a:ext>
            </a:extLst>
          </p:cNvPr>
          <p:cNvSpPr/>
          <p:nvPr/>
        </p:nvSpPr>
        <p:spPr>
          <a:xfrm>
            <a:off x="6272784" y="1773936"/>
            <a:ext cx="1475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模型估计</a:t>
            </a:r>
            <a:endParaRPr lang="en-US" sz="1350" dirty="0"/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EEDBFDFE-E257-BF1E-A77F-AEA48B9DEDB6}"/>
              </a:ext>
            </a:extLst>
          </p:cNvPr>
          <p:cNvSpPr/>
          <p:nvPr/>
        </p:nvSpPr>
        <p:spPr>
          <a:xfrm>
            <a:off x="7866888" y="1856232"/>
            <a:ext cx="109728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6C06E32B-03A0-AC84-F3D5-50EC4A7AAF37}"/>
              </a:ext>
            </a:extLst>
          </p:cNvPr>
          <p:cNvSpPr/>
          <p:nvPr/>
        </p:nvSpPr>
        <p:spPr>
          <a:xfrm>
            <a:off x="8095488" y="1463040"/>
            <a:ext cx="347472" cy="347472"/>
          </a:xfrm>
          <a:prstGeom prst="ellipse">
            <a:avLst/>
          </a:prstGeom>
          <a:solidFill>
            <a:srgbClr val="003153"/>
          </a:solidFill>
          <a:ln w="762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A025FFF3-D253-65A8-4ED0-2B1D8DAD0E28}"/>
              </a:ext>
            </a:extLst>
          </p:cNvPr>
          <p:cNvSpPr/>
          <p:nvPr/>
        </p:nvSpPr>
        <p:spPr>
          <a:xfrm>
            <a:off x="8095488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295A81AB-56D2-EF70-B338-CF138DA3B567}"/>
              </a:ext>
            </a:extLst>
          </p:cNvPr>
          <p:cNvSpPr/>
          <p:nvPr/>
        </p:nvSpPr>
        <p:spPr>
          <a:xfrm>
            <a:off x="8095488" y="1773936"/>
            <a:ext cx="1475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结果比较</a:t>
            </a:r>
            <a:endParaRPr lang="en-US" sz="1350" dirty="0"/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93E5ED45-5B51-5C0E-9EB7-F3B5260BFEF3}"/>
              </a:ext>
            </a:extLst>
          </p:cNvPr>
          <p:cNvSpPr/>
          <p:nvPr/>
        </p:nvSpPr>
        <p:spPr>
          <a:xfrm>
            <a:off x="9689592" y="1856232"/>
            <a:ext cx="109728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33">
            <a:extLst>
              <a:ext uri="{FF2B5EF4-FFF2-40B4-BE49-F238E27FC236}">
                <a16:creationId xmlns:a16="http://schemas.microsoft.com/office/drawing/2014/main" id="{EEC9621C-635A-221D-E93E-C2625F6AB704}"/>
              </a:ext>
            </a:extLst>
          </p:cNvPr>
          <p:cNvSpPr/>
          <p:nvPr/>
        </p:nvSpPr>
        <p:spPr>
          <a:xfrm>
            <a:off x="9918192" y="1463040"/>
            <a:ext cx="347472" cy="347472"/>
          </a:xfrm>
          <a:prstGeom prst="ellipse">
            <a:avLst/>
          </a:prstGeom>
          <a:solidFill>
            <a:srgbClr val="C96B36"/>
          </a:solidFill>
          <a:ln w="7620">
            <a:solidFill>
              <a:srgbClr val="C96B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34">
            <a:extLst>
              <a:ext uri="{FF2B5EF4-FFF2-40B4-BE49-F238E27FC236}">
                <a16:creationId xmlns:a16="http://schemas.microsoft.com/office/drawing/2014/main" id="{00699273-14F3-B9F5-E14F-5B3815693BD0}"/>
              </a:ext>
            </a:extLst>
          </p:cNvPr>
          <p:cNvSpPr/>
          <p:nvPr/>
        </p:nvSpPr>
        <p:spPr>
          <a:xfrm>
            <a:off x="9918192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</a:t>
            </a:r>
            <a:endParaRPr lang="en-US" sz="1100" dirty="0"/>
          </a:p>
        </p:txBody>
      </p:sp>
      <p:sp>
        <p:nvSpPr>
          <p:cNvPr id="59" name="Text 35">
            <a:extLst>
              <a:ext uri="{FF2B5EF4-FFF2-40B4-BE49-F238E27FC236}">
                <a16:creationId xmlns:a16="http://schemas.microsoft.com/office/drawing/2014/main" id="{5C165DB2-F782-AF1D-217D-8C1844D8C796}"/>
              </a:ext>
            </a:extLst>
          </p:cNvPr>
          <p:cNvSpPr/>
          <p:nvPr/>
        </p:nvSpPr>
        <p:spPr>
          <a:xfrm>
            <a:off x="9918192" y="1773936"/>
            <a:ext cx="1475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b="1" dirty="0">
                <a:solidFill>
                  <a:srgbClr val="20242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表格输出</a:t>
            </a:r>
            <a:endParaRPr lang="en-US" sz="1350" dirty="0"/>
          </a:p>
        </p:txBody>
      </p:sp>
      <p:sp>
        <p:nvSpPr>
          <p:cNvPr id="60" name="Shape 36">
            <a:extLst>
              <a:ext uri="{FF2B5EF4-FFF2-40B4-BE49-F238E27FC236}">
                <a16:creationId xmlns:a16="http://schemas.microsoft.com/office/drawing/2014/main" id="{949D0638-C402-6BE8-1CDC-BCEF1A383622}"/>
              </a:ext>
            </a:extLst>
          </p:cNvPr>
          <p:cNvSpPr/>
          <p:nvPr/>
        </p:nvSpPr>
        <p:spPr>
          <a:xfrm>
            <a:off x="899160" y="3310128"/>
            <a:ext cx="6720840" cy="1426464"/>
          </a:xfrm>
          <a:prstGeom prst="roundRect">
            <a:avLst>
              <a:gd name="adj" fmla="val 3846"/>
            </a:avLst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  <a:effectLst>
            <a:outerShdw blurRad="38100" dist="15240" dir="2700000" algn="bl" rotWithShape="0">
              <a:srgbClr val="20313E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37">
            <a:extLst>
              <a:ext uri="{FF2B5EF4-FFF2-40B4-BE49-F238E27FC236}">
                <a16:creationId xmlns:a16="http://schemas.microsoft.com/office/drawing/2014/main" id="{7AA78671-DA5A-BBF2-9EF4-7DCD53AEE9E9}"/>
              </a:ext>
            </a:extLst>
          </p:cNvPr>
          <p:cNvSpPr/>
          <p:nvPr/>
        </p:nvSpPr>
        <p:spPr>
          <a:xfrm>
            <a:off x="1173480" y="3575304"/>
            <a:ext cx="1024128" cy="310896"/>
          </a:xfrm>
          <a:prstGeom prst="roundRect">
            <a:avLst/>
          </a:prstGeom>
          <a:solidFill>
            <a:srgbClr val="C96B36"/>
          </a:solidFill>
          <a:ln w="12700">
            <a:solidFill>
              <a:srgbClr val="C96B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38">
            <a:extLst>
              <a:ext uri="{FF2B5EF4-FFF2-40B4-BE49-F238E27FC236}">
                <a16:creationId xmlns:a16="http://schemas.microsoft.com/office/drawing/2014/main" id="{E4D9481D-1DF5-98A7-3B5F-0EFEBEF8182A}"/>
              </a:ext>
            </a:extLst>
          </p:cNvPr>
          <p:cNvSpPr/>
          <p:nvPr/>
        </p:nvSpPr>
        <p:spPr>
          <a:xfrm>
            <a:off x="1173480" y="357530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示例任务</a:t>
            </a:r>
            <a:endParaRPr lang="en-US" sz="1050" dirty="0"/>
          </a:p>
        </p:txBody>
      </p:sp>
      <p:sp>
        <p:nvSpPr>
          <p:cNvPr id="63" name="Text 39">
            <a:extLst>
              <a:ext uri="{FF2B5EF4-FFF2-40B4-BE49-F238E27FC236}">
                <a16:creationId xmlns:a16="http://schemas.microsoft.com/office/drawing/2014/main" id="{F26D3579-579E-0CEA-C617-B5A50DCA1063}"/>
              </a:ext>
            </a:extLst>
          </p:cNvPr>
          <p:cNvSpPr/>
          <p:nvPr/>
        </p:nvSpPr>
        <p:spPr>
          <a:xfrm>
            <a:off x="1173480" y="3959352"/>
            <a:ext cx="6071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“检查数据，生成变量说明、描述统计和趋势图，比较三种模型，并整理成一份可复核报告。”</a:t>
            </a:r>
            <a:endParaRPr lang="en-US" dirty="0"/>
          </a:p>
        </p:txBody>
      </p:sp>
      <p:sp>
        <p:nvSpPr>
          <p:cNvPr id="64" name="Shape 40">
            <a:extLst>
              <a:ext uri="{FF2B5EF4-FFF2-40B4-BE49-F238E27FC236}">
                <a16:creationId xmlns:a16="http://schemas.microsoft.com/office/drawing/2014/main" id="{0543919A-6E33-E6F7-DEEE-EC1F32363D85}"/>
              </a:ext>
            </a:extLst>
          </p:cNvPr>
          <p:cNvSpPr/>
          <p:nvPr/>
        </p:nvSpPr>
        <p:spPr>
          <a:xfrm>
            <a:off x="7976616" y="3310128"/>
            <a:ext cx="3401568" cy="1426464"/>
          </a:xfrm>
          <a:prstGeom prst="roundRect">
            <a:avLst>
              <a:gd name="adj" fmla="val 3846"/>
            </a:avLst>
          </a:prstGeom>
          <a:solidFill>
            <a:srgbClr val="DDF3F7"/>
          </a:solidFill>
          <a:ln w="12700">
            <a:solidFill>
              <a:srgbClr val="9ED1DA"/>
            </a:solidFill>
            <a:prstDash val="solid"/>
          </a:ln>
          <a:effectLst>
            <a:outerShdw blurRad="38100" dist="15240" dir="2700000" algn="bl" rotWithShape="0">
              <a:srgbClr val="20313E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91FCFDE5-8FD8-0679-18DB-ED2C8073A025}"/>
              </a:ext>
            </a:extLst>
          </p:cNvPr>
          <p:cNvSpPr/>
          <p:nvPr/>
        </p:nvSpPr>
        <p:spPr>
          <a:xfrm>
            <a:off x="8094726" y="3693223"/>
            <a:ext cx="3283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  <a:defRPr/>
            </a:pPr>
            <a:r>
              <a:rPr lang="en-US" sz="22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质量报告　描述统计表</a:t>
            </a:r>
            <a:endParaRPr lang="en-US" sz="1900" dirty="0"/>
          </a:p>
          <a:p>
            <a:pPr marL="0" indent="0" algn="ctr">
              <a:buNone/>
              <a:defRPr/>
            </a:pPr>
            <a:r>
              <a:rPr lang="en-US" sz="22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趋势图　回归表　可运行代码</a:t>
            </a:r>
            <a:endParaRPr lang="en-US" sz="1450" dirty="0"/>
          </a:p>
        </p:txBody>
      </p:sp>
      <p:sp>
        <p:nvSpPr>
          <p:cNvPr id="67" name="Text 42">
            <a:extLst>
              <a:ext uri="{FF2B5EF4-FFF2-40B4-BE49-F238E27FC236}">
                <a16:creationId xmlns:a16="http://schemas.microsoft.com/office/drawing/2014/main" id="{7E381512-E164-5721-8FA4-3F2CCDDD81B9}"/>
              </a:ext>
            </a:extLst>
          </p:cNvPr>
          <p:cNvSpPr/>
          <p:nvPr/>
        </p:nvSpPr>
        <p:spPr>
          <a:xfrm>
            <a:off x="941801" y="548259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96B3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信息生产的单位正在从“一个命令”变成“一个完整任务”。</a:t>
            </a:r>
            <a:endParaRPr lang="en-US" sz="2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知识层正在发生什么？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1333500" y="1524000"/>
            <a:ext cx="4572000" cy="3429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608582" y="1678305"/>
            <a:ext cx="2555187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00" b="1" dirty="0">
                <a:solidFill>
                  <a:srgbClr val="00A8CC"/>
                </a:solidFill>
                <a:latin typeface="Arial"/>
                <a:ea typeface="Microsoft YaHei"/>
                <a:cs typeface="Arial"/>
              </a:rPr>
              <a:t>Agent 可以参与</a:t>
            </a:r>
          </a:p>
        </p:txBody>
      </p:sp>
      <p:sp>
        <p:nvSpPr>
          <p:cNvPr id="7" name="Ellipse 7"/>
          <p:cNvSpPr/>
          <p:nvPr/>
        </p:nvSpPr>
        <p:spPr>
          <a:xfrm>
            <a:off x="1947350" y="2484888"/>
            <a:ext cx="114300" cy="1143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Box 8"/>
          <p:cNvSpPr txBox="1"/>
          <p:nvPr/>
        </p:nvSpPr>
        <p:spPr>
          <a:xfrm>
            <a:off x="2185856" y="2414403"/>
            <a:ext cx="184665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梳理已有文献</a:t>
            </a:r>
          </a:p>
        </p:txBody>
      </p:sp>
      <p:sp>
        <p:nvSpPr>
          <p:cNvPr id="9" name="Ellipse 9"/>
          <p:cNvSpPr/>
          <p:nvPr/>
        </p:nvSpPr>
        <p:spPr>
          <a:xfrm>
            <a:off x="1947350" y="2923038"/>
            <a:ext cx="114300" cy="1143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0" name="TextBox 10"/>
          <p:cNvSpPr txBox="1"/>
          <p:nvPr/>
        </p:nvSpPr>
        <p:spPr>
          <a:xfrm>
            <a:off x="2185856" y="2852553"/>
            <a:ext cx="184665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提出研究假设</a:t>
            </a:r>
          </a:p>
        </p:txBody>
      </p:sp>
      <p:sp>
        <p:nvSpPr>
          <p:cNvPr id="11" name="Ellipse 11"/>
          <p:cNvSpPr/>
          <p:nvPr/>
        </p:nvSpPr>
        <p:spPr>
          <a:xfrm>
            <a:off x="1947350" y="3361188"/>
            <a:ext cx="114300" cy="1143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TextBox 12"/>
          <p:cNvSpPr txBox="1"/>
          <p:nvPr/>
        </p:nvSpPr>
        <p:spPr>
          <a:xfrm>
            <a:off x="2185856" y="3290703"/>
            <a:ext cx="184665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比较不同模型</a:t>
            </a:r>
          </a:p>
        </p:txBody>
      </p:sp>
      <p:sp>
        <p:nvSpPr>
          <p:cNvPr id="13" name="Ellipse 13"/>
          <p:cNvSpPr/>
          <p:nvPr/>
        </p:nvSpPr>
        <p:spPr>
          <a:xfrm>
            <a:off x="1947350" y="3799338"/>
            <a:ext cx="114300" cy="1143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Box 14"/>
          <p:cNvSpPr txBox="1"/>
          <p:nvPr/>
        </p:nvSpPr>
        <p:spPr>
          <a:xfrm>
            <a:off x="2185856" y="3728853"/>
            <a:ext cx="184665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寻找替代解释</a:t>
            </a:r>
          </a:p>
        </p:txBody>
      </p:sp>
      <p:sp>
        <p:nvSpPr>
          <p:cNvPr id="15" name="Ellipse 15"/>
          <p:cNvSpPr/>
          <p:nvPr/>
        </p:nvSpPr>
        <p:spPr>
          <a:xfrm>
            <a:off x="1947350" y="4237488"/>
            <a:ext cx="114300" cy="1143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8" name="TextBox 18"/>
          <p:cNvSpPr txBox="1"/>
          <p:nvPr/>
        </p:nvSpPr>
        <p:spPr>
          <a:xfrm>
            <a:off x="2178567" y="4139565"/>
            <a:ext cx="215443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进行</a:t>
            </a:r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稳健性检验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1524000"/>
            <a:ext cx="4572000" cy="34290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TextBox 20"/>
          <p:cNvSpPr txBox="1"/>
          <p:nvPr/>
        </p:nvSpPr>
        <p:spPr>
          <a:xfrm>
            <a:off x="6561582" y="1678305"/>
            <a:ext cx="1795363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00" b="1" dirty="0">
                <a:solidFill>
                  <a:srgbClr val="C96B36"/>
                </a:solidFill>
                <a:latin typeface="Arial"/>
                <a:ea typeface="Microsoft YaHei"/>
                <a:cs typeface="Arial"/>
              </a:rPr>
              <a:t>人必须主导</a:t>
            </a:r>
          </a:p>
        </p:txBody>
      </p:sp>
      <p:sp>
        <p:nvSpPr>
          <p:cNvPr id="21" name="Ellipse 21"/>
          <p:cNvSpPr/>
          <p:nvPr/>
        </p:nvSpPr>
        <p:spPr>
          <a:xfrm>
            <a:off x="6689872" y="2355285"/>
            <a:ext cx="114300" cy="1143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TextBox 22"/>
          <p:cNvSpPr txBox="1"/>
          <p:nvPr/>
        </p:nvSpPr>
        <p:spPr>
          <a:xfrm>
            <a:off x="6928378" y="2284800"/>
            <a:ext cx="2462213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问题是否值得研究</a:t>
            </a:r>
          </a:p>
        </p:txBody>
      </p:sp>
      <p:sp>
        <p:nvSpPr>
          <p:cNvPr id="23" name="Ellipse 23"/>
          <p:cNvSpPr/>
          <p:nvPr/>
        </p:nvSpPr>
        <p:spPr>
          <a:xfrm>
            <a:off x="6689872" y="2850585"/>
            <a:ext cx="114300" cy="1143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4" name="TextBox 24"/>
          <p:cNvSpPr txBox="1"/>
          <p:nvPr/>
        </p:nvSpPr>
        <p:spPr>
          <a:xfrm>
            <a:off x="6928378" y="2780100"/>
            <a:ext cx="307776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变量是否真正测量概念</a:t>
            </a:r>
          </a:p>
        </p:txBody>
      </p:sp>
      <p:sp>
        <p:nvSpPr>
          <p:cNvPr id="25" name="Ellipse 25"/>
          <p:cNvSpPr/>
          <p:nvPr/>
        </p:nvSpPr>
        <p:spPr>
          <a:xfrm>
            <a:off x="6689872" y="3345885"/>
            <a:ext cx="114300" cy="1143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6" name="TextBox 26"/>
          <p:cNvSpPr txBox="1"/>
          <p:nvPr/>
        </p:nvSpPr>
        <p:spPr>
          <a:xfrm>
            <a:off x="6928378" y="3275400"/>
            <a:ext cx="2462213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识别策略是否可信</a:t>
            </a:r>
          </a:p>
        </p:txBody>
      </p:sp>
      <p:sp>
        <p:nvSpPr>
          <p:cNvPr id="27" name="Ellipse 27"/>
          <p:cNvSpPr/>
          <p:nvPr/>
        </p:nvSpPr>
        <p:spPr>
          <a:xfrm>
            <a:off x="6689872" y="3841185"/>
            <a:ext cx="114300" cy="1143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8" name="TextBox 28"/>
          <p:cNvSpPr txBox="1"/>
          <p:nvPr/>
        </p:nvSpPr>
        <p:spPr>
          <a:xfrm>
            <a:off x="6928378" y="3770700"/>
            <a:ext cx="2462213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哪些结论能够成立</a:t>
            </a:r>
          </a:p>
        </p:txBody>
      </p:sp>
      <p:sp>
        <p:nvSpPr>
          <p:cNvPr id="29" name="Ellipse 29"/>
          <p:cNvSpPr/>
          <p:nvPr/>
        </p:nvSpPr>
        <p:spPr>
          <a:xfrm>
            <a:off x="6689872" y="4336485"/>
            <a:ext cx="114300" cy="1143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0" name="TextBox 30"/>
          <p:cNvSpPr txBox="1"/>
          <p:nvPr/>
        </p:nvSpPr>
        <p:spPr>
          <a:xfrm>
            <a:off x="6928378" y="4266000"/>
            <a:ext cx="369331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结论成立的边界条件是什么</a:t>
            </a:r>
            <a:endParaRPr lang="zh-CN" sz="2400" dirty="0">
              <a:solidFill>
                <a:srgbClr val="20242A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1333500" y="5429250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 32"/>
          <p:cNvSpPr/>
          <p:nvPr/>
        </p:nvSpPr>
        <p:spPr>
          <a:xfrm>
            <a:off x="1333500" y="5429250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1589532" y="5631180"/>
            <a:ext cx="777937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AI 可以生成候选解释，但不能自动把解释变成可信知识。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24 / 43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判断与行动层正在发生什么？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1333500" y="1524000"/>
            <a:ext cx="45720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608582" y="1678305"/>
            <a:ext cx="150874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A8CC"/>
                </a:solidFill>
                <a:latin typeface="Arial"/>
                <a:ea typeface="Microsoft YaHei"/>
                <a:cs typeface="Arial"/>
              </a:rPr>
              <a:t>Agent 可以</a:t>
            </a:r>
          </a:p>
        </p:txBody>
      </p:sp>
      <p:sp>
        <p:nvSpPr>
          <p:cNvPr id="7" name="Ellipse 7"/>
          <p:cNvSpPr/>
          <p:nvPr/>
        </p:nvSpPr>
        <p:spPr>
          <a:xfrm>
            <a:off x="1947672" y="2263331"/>
            <a:ext cx="114300" cy="1143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Box 8"/>
          <p:cNvSpPr txBox="1"/>
          <p:nvPr/>
        </p:nvSpPr>
        <p:spPr>
          <a:xfrm>
            <a:off x="2186178" y="2192846"/>
            <a:ext cx="184665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整理研究报告</a:t>
            </a:r>
          </a:p>
        </p:txBody>
      </p:sp>
      <p:sp>
        <p:nvSpPr>
          <p:cNvPr id="9" name="Ellipse 9"/>
          <p:cNvSpPr/>
          <p:nvPr/>
        </p:nvSpPr>
        <p:spPr>
          <a:xfrm>
            <a:off x="1947672" y="2663381"/>
            <a:ext cx="114300" cy="1143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0" name="TextBox 10"/>
          <p:cNvSpPr txBox="1"/>
          <p:nvPr/>
        </p:nvSpPr>
        <p:spPr>
          <a:xfrm>
            <a:off x="2186178" y="2592896"/>
            <a:ext cx="307776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面向不同读者解释结论</a:t>
            </a:r>
          </a:p>
        </p:txBody>
      </p:sp>
      <p:sp>
        <p:nvSpPr>
          <p:cNvPr id="11" name="Ellipse 11"/>
          <p:cNvSpPr/>
          <p:nvPr/>
        </p:nvSpPr>
        <p:spPr>
          <a:xfrm>
            <a:off x="1947672" y="3063431"/>
            <a:ext cx="114300" cy="1143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TextBox 12"/>
          <p:cNvSpPr txBox="1"/>
          <p:nvPr/>
        </p:nvSpPr>
        <p:spPr>
          <a:xfrm>
            <a:off x="2186178" y="2992946"/>
            <a:ext cx="123110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比较方案</a:t>
            </a:r>
          </a:p>
        </p:txBody>
      </p:sp>
      <p:sp>
        <p:nvSpPr>
          <p:cNvPr id="13" name="Ellipse 13"/>
          <p:cNvSpPr/>
          <p:nvPr/>
        </p:nvSpPr>
        <p:spPr>
          <a:xfrm>
            <a:off x="1947672" y="3463481"/>
            <a:ext cx="114300" cy="1143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Box 14"/>
          <p:cNvSpPr txBox="1"/>
          <p:nvPr/>
        </p:nvSpPr>
        <p:spPr>
          <a:xfrm>
            <a:off x="2186178" y="3392996"/>
            <a:ext cx="184665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生成情景分析</a:t>
            </a:r>
          </a:p>
        </p:txBody>
      </p:sp>
      <p:sp>
        <p:nvSpPr>
          <p:cNvPr id="15" name="Ellipse 15"/>
          <p:cNvSpPr/>
          <p:nvPr/>
        </p:nvSpPr>
        <p:spPr>
          <a:xfrm>
            <a:off x="1947672" y="3863531"/>
            <a:ext cx="114300" cy="1143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6" name="TextBox 16"/>
          <p:cNvSpPr txBox="1"/>
          <p:nvPr/>
        </p:nvSpPr>
        <p:spPr>
          <a:xfrm>
            <a:off x="2186178" y="3793046"/>
            <a:ext cx="215443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制作图表和演示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524000"/>
            <a:ext cx="45720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6561582" y="1678305"/>
            <a:ext cx="143484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96B36"/>
                </a:solidFill>
                <a:latin typeface="Arial"/>
                <a:ea typeface="Microsoft YaHei"/>
                <a:cs typeface="Arial"/>
              </a:rPr>
              <a:t>人仍需决定</a:t>
            </a:r>
          </a:p>
        </p:txBody>
      </p:sp>
      <p:sp>
        <p:nvSpPr>
          <p:cNvPr id="19" name="Ellipse 19"/>
          <p:cNvSpPr/>
          <p:nvPr/>
        </p:nvSpPr>
        <p:spPr>
          <a:xfrm>
            <a:off x="6758178" y="2381822"/>
            <a:ext cx="114300" cy="1143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TextBox 20"/>
          <p:cNvSpPr txBox="1"/>
          <p:nvPr/>
        </p:nvSpPr>
        <p:spPr>
          <a:xfrm>
            <a:off x="6996684" y="2311337"/>
            <a:ext cx="1538883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目标是什么</a:t>
            </a:r>
          </a:p>
        </p:txBody>
      </p:sp>
      <p:sp>
        <p:nvSpPr>
          <p:cNvPr id="21" name="Ellipse 21"/>
          <p:cNvSpPr/>
          <p:nvPr/>
        </p:nvSpPr>
        <p:spPr>
          <a:xfrm>
            <a:off x="6758178" y="2781872"/>
            <a:ext cx="114300" cy="1143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TextBox 22"/>
          <p:cNvSpPr txBox="1"/>
          <p:nvPr/>
        </p:nvSpPr>
        <p:spPr>
          <a:xfrm>
            <a:off x="6996684" y="2711387"/>
            <a:ext cx="184665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利益如何权衡</a:t>
            </a:r>
          </a:p>
        </p:txBody>
      </p:sp>
      <p:sp>
        <p:nvSpPr>
          <p:cNvPr id="23" name="Ellipse 23"/>
          <p:cNvSpPr/>
          <p:nvPr/>
        </p:nvSpPr>
        <p:spPr>
          <a:xfrm>
            <a:off x="6758178" y="3181922"/>
            <a:ext cx="114300" cy="1143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4" name="TextBox 24"/>
          <p:cNvSpPr txBox="1"/>
          <p:nvPr/>
        </p:nvSpPr>
        <p:spPr>
          <a:xfrm>
            <a:off x="6996684" y="3111437"/>
            <a:ext cx="2462213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哪些风险可以接受</a:t>
            </a:r>
          </a:p>
        </p:txBody>
      </p:sp>
      <p:sp>
        <p:nvSpPr>
          <p:cNvPr id="25" name="Ellipse 25"/>
          <p:cNvSpPr/>
          <p:nvPr/>
        </p:nvSpPr>
        <p:spPr>
          <a:xfrm>
            <a:off x="6758178" y="3581972"/>
            <a:ext cx="114300" cy="1143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6" name="TextBox 26"/>
          <p:cNvSpPr txBox="1"/>
          <p:nvPr/>
        </p:nvSpPr>
        <p:spPr>
          <a:xfrm>
            <a:off x="6996684" y="3511487"/>
            <a:ext cx="184665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谁对结果负责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333500" y="5048250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 28"/>
          <p:cNvSpPr/>
          <p:nvPr/>
        </p:nvSpPr>
        <p:spPr>
          <a:xfrm>
            <a:off x="1333500" y="5048250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1589532" y="5250180"/>
            <a:ext cx="708888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从知识走向行动，不只是技术问题，还包含价值和责任。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25 / 43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金字塔没有消失，通道变宽了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26 / 43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B08438D-3A39-FE64-7A88-020C92FE92DD}"/>
              </a:ext>
            </a:extLst>
          </p:cNvPr>
          <p:cNvSpPr/>
          <p:nvPr/>
        </p:nvSpPr>
        <p:spPr>
          <a:xfrm>
            <a:off x="1143000" y="3886200"/>
            <a:ext cx="5669280" cy="1005840"/>
          </a:xfrm>
          <a:prstGeom prst="trapezoid">
            <a:avLst/>
          </a:prstGeom>
          <a:solidFill>
            <a:srgbClr val="C7E7EC"/>
          </a:solidFill>
          <a:ln w="12700">
            <a:solidFill>
              <a:srgbClr val="C7E7E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2108846-D551-8270-542F-551817C64BE2}"/>
              </a:ext>
            </a:extLst>
          </p:cNvPr>
          <p:cNvSpPr/>
          <p:nvPr/>
        </p:nvSpPr>
        <p:spPr>
          <a:xfrm>
            <a:off x="1143000" y="405079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数据与材料</a:t>
            </a:r>
            <a:endParaRPr lang="en-US" sz="2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DA958AB-EDFB-D8EA-7362-00C1EDFD5072}"/>
              </a:ext>
            </a:extLst>
          </p:cNvPr>
          <p:cNvSpPr/>
          <p:nvPr/>
        </p:nvSpPr>
        <p:spPr>
          <a:xfrm>
            <a:off x="1874520" y="2761488"/>
            <a:ext cx="4206240" cy="896112"/>
          </a:xfrm>
          <a:prstGeom prst="trapezoid">
            <a:avLst/>
          </a:prstGeom>
          <a:solidFill>
            <a:srgbClr val="6BBAC9"/>
          </a:solidFill>
          <a:ln w="12700">
            <a:solidFill>
              <a:srgbClr val="6BBAC9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BE83551-8B13-B1BD-9BAC-06C4743D195D}"/>
              </a:ext>
            </a:extLst>
          </p:cNvPr>
          <p:cNvSpPr/>
          <p:nvPr/>
        </p:nvSpPr>
        <p:spPr>
          <a:xfrm>
            <a:off x="1874520" y="2926080"/>
            <a:ext cx="4206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信息与分析</a:t>
            </a:r>
            <a:endParaRPr lang="en-US" sz="24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56EB6D4-9D92-9716-3FEB-033965B5C539}"/>
              </a:ext>
            </a:extLst>
          </p:cNvPr>
          <p:cNvSpPr/>
          <p:nvPr/>
        </p:nvSpPr>
        <p:spPr>
          <a:xfrm>
            <a:off x="2578608" y="1755648"/>
            <a:ext cx="2834640" cy="786384"/>
          </a:xfrm>
          <a:prstGeom prst="trapezoid">
            <a:avLst/>
          </a:prstGeom>
          <a:solidFill>
            <a:srgbClr val="003153"/>
          </a:solidFill>
          <a:ln w="1270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43C0F64-81D1-EDF0-782D-17C2197B48D1}"/>
              </a:ext>
            </a:extLst>
          </p:cNvPr>
          <p:cNvSpPr/>
          <p:nvPr/>
        </p:nvSpPr>
        <p:spPr>
          <a:xfrm>
            <a:off x="2578608" y="1920240"/>
            <a:ext cx="2834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知识与判断</a:t>
            </a:r>
            <a:endParaRPr lang="en-US" sz="24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42FE5F2-92FC-EE57-0074-1636E9FDD0D7}"/>
              </a:ext>
            </a:extLst>
          </p:cNvPr>
          <p:cNvSpPr/>
          <p:nvPr/>
        </p:nvSpPr>
        <p:spPr>
          <a:xfrm>
            <a:off x="5486400" y="1508760"/>
            <a:ext cx="1078992" cy="3886200"/>
          </a:xfrm>
          <a:prstGeom prst="roundRect">
            <a:avLst/>
          </a:prstGeom>
          <a:solidFill>
            <a:srgbClr val="C96B36"/>
          </a:solidFill>
          <a:ln w="12700">
            <a:solidFill>
              <a:srgbClr val="C96B3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0EA444B-6D4E-158E-36A8-777417F53B6F}"/>
              </a:ext>
            </a:extLst>
          </p:cNvPr>
          <p:cNvSpPr/>
          <p:nvPr/>
        </p:nvSpPr>
        <p:spPr>
          <a:xfrm>
            <a:off x="5486400" y="2788920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Agent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电梯</a:t>
            </a:r>
            <a:endParaRPr lang="en-US" sz="24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F1FADB0-418C-5D5C-DDE5-6DF212676303}"/>
              </a:ext>
            </a:extLst>
          </p:cNvPr>
          <p:cNvSpPr/>
          <p:nvPr/>
        </p:nvSpPr>
        <p:spPr>
          <a:xfrm>
            <a:off x="5861304" y="2011680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F5EA70A0-F651-9470-95BF-5A1FF3C22485}"/>
              </a:ext>
            </a:extLst>
          </p:cNvPr>
          <p:cNvSpPr/>
          <p:nvPr/>
        </p:nvSpPr>
        <p:spPr>
          <a:xfrm>
            <a:off x="5861304" y="4407408"/>
            <a:ext cx="329184" cy="329184"/>
          </a:xfrm>
          <a:prstGeom prst="ellipse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68E4B835-95A3-A6B6-C016-61A8C67CFA20}"/>
              </a:ext>
            </a:extLst>
          </p:cNvPr>
          <p:cNvSpPr/>
          <p:nvPr/>
        </p:nvSpPr>
        <p:spPr>
          <a:xfrm>
            <a:off x="8275320" y="2103120"/>
            <a:ext cx="475488" cy="475488"/>
          </a:xfrm>
          <a:prstGeom prst="ellipse">
            <a:avLst/>
          </a:prstGeom>
          <a:solidFill>
            <a:srgbClr val="C96B36"/>
          </a:solidFill>
          <a:ln w="7620">
            <a:solidFill>
              <a:srgbClr val="C96B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BEC8CA6-B053-2792-0E93-27447379CA21}"/>
              </a:ext>
            </a:extLst>
          </p:cNvPr>
          <p:cNvSpPr/>
          <p:nvPr/>
        </p:nvSpPr>
        <p:spPr>
          <a:xfrm>
            <a:off x="8513064" y="2578608"/>
            <a:ext cx="0" cy="1069848"/>
          </a:xfrm>
          <a:prstGeom prst="line">
            <a:avLst/>
          </a:prstGeom>
          <a:noFill/>
          <a:ln w="3810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E8A90F62-162D-86A4-0D1D-CF68313A48EF}"/>
              </a:ext>
            </a:extLst>
          </p:cNvPr>
          <p:cNvSpPr/>
          <p:nvPr/>
        </p:nvSpPr>
        <p:spPr>
          <a:xfrm>
            <a:off x="8513064" y="2944368"/>
            <a:ext cx="0" cy="502920"/>
          </a:xfrm>
          <a:prstGeom prst="line">
            <a:avLst/>
          </a:prstGeom>
          <a:noFill/>
          <a:ln w="3810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4244236E-1E9E-77A1-8B12-7A88222222B1}"/>
              </a:ext>
            </a:extLst>
          </p:cNvPr>
          <p:cNvSpPr/>
          <p:nvPr/>
        </p:nvSpPr>
        <p:spPr>
          <a:xfrm>
            <a:off x="8513064" y="2944368"/>
            <a:ext cx="640080" cy="502920"/>
          </a:xfrm>
          <a:prstGeom prst="line">
            <a:avLst/>
          </a:prstGeom>
          <a:noFill/>
          <a:ln w="3810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98EC4B4-7CFF-0101-107C-7C414628A7EA}"/>
              </a:ext>
            </a:extLst>
          </p:cNvPr>
          <p:cNvSpPr/>
          <p:nvPr/>
        </p:nvSpPr>
        <p:spPr>
          <a:xfrm>
            <a:off x="8513064" y="3639312"/>
            <a:ext cx="0" cy="804672"/>
          </a:xfrm>
          <a:prstGeom prst="line">
            <a:avLst/>
          </a:prstGeom>
          <a:noFill/>
          <a:ln w="3810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43BA5E9B-B912-4170-C93A-CC47441B51F4}"/>
              </a:ext>
            </a:extLst>
          </p:cNvPr>
          <p:cNvSpPr/>
          <p:nvPr/>
        </p:nvSpPr>
        <p:spPr>
          <a:xfrm>
            <a:off x="8513064" y="3639312"/>
            <a:ext cx="457200" cy="804672"/>
          </a:xfrm>
          <a:prstGeom prst="line">
            <a:avLst/>
          </a:prstGeom>
          <a:noFill/>
          <a:ln w="38100">
            <a:solidFill>
              <a:srgbClr val="00315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8FC1A4B8-A703-7113-7405-6736B3BD178D}"/>
              </a:ext>
            </a:extLst>
          </p:cNvPr>
          <p:cNvSpPr/>
          <p:nvPr/>
        </p:nvSpPr>
        <p:spPr>
          <a:xfrm>
            <a:off x="9555480" y="4709160"/>
            <a:ext cx="0" cy="0"/>
          </a:xfrm>
          <a:prstGeom prst="line">
            <a:avLst/>
          </a:prstGeom>
          <a:noFill/>
          <a:ln w="31750">
            <a:solidFill>
              <a:srgbClr val="00A8C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01EC48C-CFFB-F3E5-5C1A-501AE4824051}"/>
              </a:ext>
            </a:extLst>
          </p:cNvPr>
          <p:cNvSpPr/>
          <p:nvPr/>
        </p:nvSpPr>
        <p:spPr>
          <a:xfrm>
            <a:off x="9052560" y="192024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人的注意力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0315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向上移动</a:t>
            </a:r>
            <a:endParaRPr lang="en-US" sz="19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4987EC1-78AB-BBF5-18F0-DFF2AC145E95}"/>
              </a:ext>
            </a:extLst>
          </p:cNvPr>
          <p:cNvSpPr/>
          <p:nvPr/>
        </p:nvSpPr>
        <p:spPr>
          <a:xfrm>
            <a:off x="914399" y="5623560"/>
            <a:ext cx="1085848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96B3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 Agent 没有取消数据—信息—知识的层次，而是大幅降低了层次之间的转换成本。</a:t>
            </a:r>
            <a:endParaRPr lang="en-US" sz="2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稀缺能力正在上移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3031959" y="1462264"/>
            <a:ext cx="172562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AI 以前更稀缺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29886" y="1440985"/>
            <a:ext cx="174157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A8CC"/>
                </a:solidFill>
                <a:latin typeface="Arial"/>
                <a:ea typeface="Microsoft YaHei"/>
                <a:cs typeface="Arial"/>
              </a:rPr>
              <a:t>AI 时代更稀缺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28594" y="209308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查找资料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05094" y="2081357"/>
            <a:ext cx="16419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76594" y="2081357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提出好问题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28594" y="264553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记忆命令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05094" y="2645530"/>
            <a:ext cx="16419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76594" y="2645530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设计好任务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28594" y="3197980"/>
            <a:ext cx="15948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手工处理数据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05094" y="3197980"/>
            <a:ext cx="16419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76594" y="3197980"/>
            <a:ext cx="21198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判断数据是否可信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28594" y="3750430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制作回归表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05094" y="3750430"/>
            <a:ext cx="16419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6594" y="3750430"/>
            <a:ext cx="15948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评价识别策略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28594" y="4302880"/>
            <a:ext cx="15948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写出流畅文字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05094" y="4302880"/>
            <a:ext cx="16419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76594" y="4302880"/>
            <a:ext cx="15948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控制结论边界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28594" y="485533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完成操作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5094" y="4855330"/>
            <a:ext cx="16419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dirty="0">
                <a:solidFill>
                  <a:srgbClr val="C96B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76594" y="485533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承担责任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333500" y="5619750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6"/>
          <p:cNvSpPr/>
          <p:nvPr/>
        </p:nvSpPr>
        <p:spPr>
          <a:xfrm>
            <a:off x="1333500" y="5619750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1589532" y="5821680"/>
            <a:ext cx="510997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当操作越来越便宜，判断就越来越昂贵。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27 / 43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537408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人在 AI 协助下走向更高层次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1333500" y="1862501"/>
            <a:ext cx="1476375" cy="1905000"/>
          </a:xfrm>
          <a:prstGeom prst="roundRect">
            <a:avLst>
              <a:gd name="adj" fmla="val 5161"/>
            </a:avLst>
          </a:prstGeom>
          <a:solidFill>
            <a:srgbClr val="001A3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Ellipse 6"/>
          <p:cNvSpPr/>
          <p:nvPr/>
        </p:nvSpPr>
        <p:spPr>
          <a:xfrm>
            <a:off x="1876425" y="2100626"/>
            <a:ext cx="381000" cy="381000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987812" y="2163491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3236" y="2779759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软件操作者</a:t>
            </a:r>
          </a:p>
        </p:txBody>
      </p:sp>
      <p:sp>
        <p:nvSpPr>
          <p:cNvPr id="9" name="Rectangle 9"/>
          <p:cNvSpPr/>
          <p:nvPr/>
        </p:nvSpPr>
        <p:spPr>
          <a:xfrm>
            <a:off x="2905125" y="1862501"/>
            <a:ext cx="1476375" cy="1905000"/>
          </a:xfrm>
          <a:prstGeom prst="roundRect">
            <a:avLst>
              <a:gd name="adj" fmla="val 5161"/>
            </a:avLst>
          </a:prstGeom>
          <a:solidFill>
            <a:srgbClr val="001A3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Ellipse 10"/>
          <p:cNvSpPr/>
          <p:nvPr/>
        </p:nvSpPr>
        <p:spPr>
          <a:xfrm>
            <a:off x="3448050" y="2100626"/>
            <a:ext cx="381000" cy="381000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559437" y="2163491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74860" y="2779759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数据分析者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476750" y="1862501"/>
            <a:ext cx="1476375" cy="1905000"/>
          </a:xfrm>
          <a:prstGeom prst="roundRect">
            <a:avLst>
              <a:gd name="adj" fmla="val 5161"/>
            </a:avLst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Ellipse 14"/>
          <p:cNvSpPr/>
          <p:nvPr/>
        </p:nvSpPr>
        <p:spPr>
          <a:xfrm>
            <a:off x="5019675" y="2100626"/>
            <a:ext cx="381000" cy="381000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5131062" y="2163491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46486" y="2779759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研究设计者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048375" y="1862501"/>
            <a:ext cx="1476375" cy="1905000"/>
          </a:xfrm>
          <a:prstGeom prst="roundRect">
            <a:avLst>
              <a:gd name="adj" fmla="val 5161"/>
            </a:avLst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Ellipse 18"/>
          <p:cNvSpPr/>
          <p:nvPr/>
        </p:nvSpPr>
        <p:spPr>
          <a:xfrm>
            <a:off x="6591300" y="2100626"/>
            <a:ext cx="381000" cy="381000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702687" y="2163491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18111" y="2779759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证据审查者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0" y="1862501"/>
            <a:ext cx="1476375" cy="1905000"/>
          </a:xfrm>
          <a:prstGeom prst="roundRect">
            <a:avLst>
              <a:gd name="adj" fmla="val 5161"/>
            </a:avLst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Ellipse 22"/>
          <p:cNvSpPr/>
          <p:nvPr/>
        </p:nvSpPr>
        <p:spPr>
          <a:xfrm>
            <a:off x="8162925" y="2100626"/>
            <a:ext cx="381000" cy="381000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8274312" y="2163491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65514" y="2779759"/>
            <a:ext cx="137582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Agent 组织者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191625" y="1862501"/>
            <a:ext cx="1476375" cy="1905000"/>
          </a:xfrm>
          <a:prstGeom prst="roundRect">
            <a:avLst>
              <a:gd name="adj" fmla="val 5161"/>
            </a:avLst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Ellipse 26"/>
          <p:cNvSpPr/>
          <p:nvPr/>
        </p:nvSpPr>
        <p:spPr>
          <a:xfrm>
            <a:off x="9734550" y="2100626"/>
            <a:ext cx="381000" cy="381000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9845937" y="2163491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39238" y="2779759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负责任的决策者</a:t>
            </a:r>
          </a:p>
        </p:txBody>
      </p:sp>
      <p:sp>
        <p:nvSpPr>
          <p:cNvPr id="29" name="Rectangle 29"/>
          <p:cNvSpPr/>
          <p:nvPr/>
        </p:nvSpPr>
        <p:spPr>
          <a:xfrm>
            <a:off x="1333500" y="4815251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ctangle 30"/>
          <p:cNvSpPr/>
          <p:nvPr/>
        </p:nvSpPr>
        <p:spPr>
          <a:xfrm>
            <a:off x="1333500" y="4815251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1589532" y="5017181"/>
            <a:ext cx="652348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人不是退出研究过程，而是从执行者走向研究导演。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28 / 43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60883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速度越快，错误也可能传播得越快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2575587" y="1678305"/>
            <a:ext cx="704082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A33A3A"/>
                </a:solidFill>
                <a:latin typeface="Arial"/>
                <a:ea typeface="Microsoft YaHei"/>
                <a:cs typeface="Arial"/>
              </a:rPr>
              <a:t>错误数据 → 错误变量 → 错误模型 → 漂亮图表 → 自信结论</a:t>
            </a:r>
          </a:p>
        </p:txBody>
      </p:sp>
      <p:sp>
        <p:nvSpPr>
          <p:cNvPr id="6" name="Ellipse 6"/>
          <p:cNvSpPr/>
          <p:nvPr/>
        </p:nvSpPr>
        <p:spPr>
          <a:xfrm>
            <a:off x="1447800" y="2514600"/>
            <a:ext cx="152400" cy="152400"/>
          </a:xfrm>
          <a:prstGeom prst="ellipse">
            <a:avLst/>
          </a:prstGeom>
          <a:solidFill>
            <a:srgbClr val="A33A3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752219" y="2456498"/>
            <a:ext cx="21198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数据来源无法追溯</a:t>
            </a:r>
          </a:p>
        </p:txBody>
      </p:sp>
      <p:sp>
        <p:nvSpPr>
          <p:cNvPr id="8" name="Ellipse 8"/>
          <p:cNvSpPr/>
          <p:nvPr/>
        </p:nvSpPr>
        <p:spPr>
          <a:xfrm>
            <a:off x="1447800" y="3105150"/>
            <a:ext cx="152400" cy="152400"/>
          </a:xfrm>
          <a:prstGeom prst="ellipse">
            <a:avLst/>
          </a:prstGeom>
          <a:solidFill>
            <a:srgbClr val="A33A3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752219" y="3047048"/>
            <a:ext cx="21198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变量定义悄悄改变</a:t>
            </a:r>
          </a:p>
        </p:txBody>
      </p:sp>
      <p:sp>
        <p:nvSpPr>
          <p:cNvPr id="10" name="Ellipse 10"/>
          <p:cNvSpPr/>
          <p:nvPr/>
        </p:nvSpPr>
        <p:spPr>
          <a:xfrm>
            <a:off x="1447800" y="3695700"/>
            <a:ext cx="152400" cy="152400"/>
          </a:xfrm>
          <a:prstGeom prst="ellipse">
            <a:avLst/>
          </a:prstGeom>
          <a:solidFill>
            <a:srgbClr val="A33A3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752219" y="3637598"/>
            <a:ext cx="31699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代码能运行但模型设定错误</a:t>
            </a:r>
          </a:p>
        </p:txBody>
      </p:sp>
      <p:sp>
        <p:nvSpPr>
          <p:cNvPr id="12" name="Ellipse 12"/>
          <p:cNvSpPr/>
          <p:nvPr/>
        </p:nvSpPr>
        <p:spPr>
          <a:xfrm>
            <a:off x="1447800" y="4286250"/>
            <a:ext cx="152400" cy="152400"/>
          </a:xfrm>
          <a:prstGeom prst="ellipse">
            <a:avLst/>
          </a:prstGeom>
          <a:solidFill>
            <a:srgbClr val="A33A3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752219" y="4228148"/>
            <a:ext cx="31699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相关关系被包装成因果结论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333500" y="5524500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5"/>
          <p:cNvSpPr/>
          <p:nvPr/>
        </p:nvSpPr>
        <p:spPr>
          <a:xfrm>
            <a:off x="1333500" y="5524500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589532" y="5726430"/>
            <a:ext cx="9343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AI 更值得警惕的错误，是把一个小错误加工成一套完整而漂亮的结果。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29 / 43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我们如何应对？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1619250" y="1714500"/>
            <a:ext cx="428625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6"/>
          <p:cNvSpPr/>
          <p:nvPr/>
        </p:nvSpPr>
        <p:spPr>
          <a:xfrm>
            <a:off x="1619250" y="1714500"/>
            <a:ext cx="57150" cy="1333500"/>
          </a:xfrm>
          <a:prstGeom prst="rect">
            <a:avLst/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836420" y="1900238"/>
            <a:ext cx="9315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可追溯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39468" y="2346008"/>
            <a:ext cx="223799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数据和文献从哪里来？</a:t>
            </a:r>
          </a:p>
        </p:txBody>
      </p:sp>
      <p:sp>
        <p:nvSpPr>
          <p:cNvPr id="9" name="Rectangle 9"/>
          <p:cNvSpPr/>
          <p:nvPr/>
        </p:nvSpPr>
        <p:spPr>
          <a:xfrm>
            <a:off x="6286500" y="1714500"/>
            <a:ext cx="428625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6286500" y="1714500"/>
            <a:ext cx="57150" cy="1333500"/>
          </a:xfrm>
          <a:prstGeom prst="rect">
            <a:avLst/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503670" y="1900238"/>
            <a:ext cx="9315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可复现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06718" y="2346008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代码和步骤能否重新运行？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619250" y="3429000"/>
            <a:ext cx="428625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4"/>
          <p:cNvSpPr/>
          <p:nvPr/>
        </p:nvSpPr>
        <p:spPr>
          <a:xfrm>
            <a:off x="1619250" y="3429000"/>
            <a:ext cx="57150" cy="1333500"/>
          </a:xfrm>
          <a:prstGeom prst="rect">
            <a:avLst/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836420" y="3614738"/>
            <a:ext cx="9315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可解释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39468" y="4060508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变量、模型和结论是什么意思？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3429000"/>
            <a:ext cx="428625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 18"/>
          <p:cNvSpPr/>
          <p:nvPr/>
        </p:nvSpPr>
        <p:spPr>
          <a:xfrm>
            <a:off x="6286500" y="3429000"/>
            <a:ext cx="57150" cy="1333500"/>
          </a:xfrm>
          <a:prstGeom prst="rect">
            <a:avLst/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503670" y="3614738"/>
            <a:ext cx="9315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可质疑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6718" y="4060508"/>
            <a:ext cx="35707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是否主动寻找替代解释和失败可能？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333500" y="5429250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 22"/>
          <p:cNvSpPr/>
          <p:nvPr/>
        </p:nvSpPr>
        <p:spPr>
          <a:xfrm>
            <a:off x="1333500" y="5429250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1589532" y="5631180"/>
            <a:ext cx="8144474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不是拒绝 AI，而是建立更严格的人机协作</a:t>
            </a:r>
            <a:r>
              <a:rPr lang="zh-CN" altLang="en-US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规范，形成可迭代工作流！</a:t>
            </a:r>
            <a:endParaRPr lang="zh-CN" sz="2100" b="1" dirty="0">
              <a:solidFill>
                <a:srgbClr val="003153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30 / 43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475030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本课程全面拥抱 AI Agent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2915513" y="1564883"/>
            <a:ext cx="6360972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提出问题 → Agent 制定方案 → 审查方案 → Agent 执行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01664" y="1898258"/>
            <a:ext cx="4988673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→ 核验结果 → Agent 协助修改 → 作出结论</a:t>
            </a:r>
          </a:p>
        </p:txBody>
      </p:sp>
      <p:sp>
        <p:nvSpPr>
          <p:cNvPr id="7" name="Rectangle 7"/>
          <p:cNvSpPr/>
          <p:nvPr/>
        </p:nvSpPr>
        <p:spPr>
          <a:xfrm>
            <a:off x="1333500" y="2768108"/>
            <a:ext cx="4572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TextBox 8"/>
          <p:cNvSpPr txBox="1"/>
          <p:nvPr/>
        </p:nvSpPr>
        <p:spPr>
          <a:xfrm>
            <a:off x="1533906" y="2916698"/>
            <a:ext cx="4360168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课前：解释教材、补充基础、生成练习</a:t>
            </a:r>
          </a:p>
        </p:txBody>
      </p:sp>
      <p:sp>
        <p:nvSpPr>
          <p:cNvPr id="9" name="Rectangle 9"/>
          <p:cNvSpPr/>
          <p:nvPr/>
        </p:nvSpPr>
        <p:spPr>
          <a:xfrm>
            <a:off x="6286500" y="2768108"/>
            <a:ext cx="4572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0" name="TextBox 10"/>
          <p:cNvSpPr txBox="1"/>
          <p:nvPr/>
        </p:nvSpPr>
        <p:spPr>
          <a:xfrm>
            <a:off x="6486906" y="2916698"/>
            <a:ext cx="3590727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课堂：比较答案、判断不同解释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333500" y="3625358"/>
            <a:ext cx="4572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TextBox 12"/>
          <p:cNvSpPr txBox="1"/>
          <p:nvPr/>
        </p:nvSpPr>
        <p:spPr>
          <a:xfrm>
            <a:off x="1533906" y="3773948"/>
            <a:ext cx="4103688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项目：协助数据、代码、模型和报告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3625358"/>
            <a:ext cx="45720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4" name="TextBox 14"/>
          <p:cNvSpPr txBox="1"/>
          <p:nvPr/>
        </p:nvSpPr>
        <p:spPr>
          <a:xfrm>
            <a:off x="6486906" y="3773948"/>
            <a:ext cx="3334246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课后：个性化复习和错误诊断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333500" y="4953000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Rectangle 16"/>
          <p:cNvSpPr/>
          <p:nvPr/>
        </p:nvSpPr>
        <p:spPr>
          <a:xfrm>
            <a:off x="1333500" y="4953000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7" name="TextBox 17"/>
          <p:cNvSpPr txBox="1"/>
          <p:nvPr/>
        </p:nvSpPr>
        <p:spPr>
          <a:xfrm>
            <a:off x="1589532" y="5154930"/>
            <a:ext cx="863999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把重复劳动交给 Agent，把问题、识别、判断和责任留给自己。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31 / 43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0" b="1" i="0" u="none" strike="noStrike" kern="1200" cap="none" spc="0" normalizeH="0" baseline="0" noProof="0" dirty="0">
                <a:ln>
                  <a:noFill/>
                </a:ln>
                <a:solidFill>
                  <a:srgbClr val="E8E3D9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kumimoji="0" lang="en-US" sz="1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6384" y="19019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C96B36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 3 部分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6384" y="2331720"/>
            <a:ext cx="9966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这门课怎样学习？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5717A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从“学过回归”到“能够完成实证研究”。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87968" y="1325880"/>
            <a:ext cx="0" cy="3337560"/>
          </a:xfrm>
          <a:prstGeom prst="line">
            <a:avLst/>
          </a:prstGeom>
          <a:noFill/>
          <a:ln w="19050">
            <a:solidFill>
              <a:srgbClr val="A7C8D0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778240" y="3602736"/>
            <a:ext cx="219456" cy="219456"/>
          </a:xfrm>
          <a:prstGeom prst="ellipse">
            <a:avLst/>
          </a:prstGeom>
          <a:solidFill>
            <a:srgbClr val="00A8CC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" b="0" i="0" u="none" strike="noStrike" kern="1200" cap="none" spc="0" normalizeH="0" baseline="0" noProof="0" dirty="0">
                <a:ln>
                  <a:noFill/>
                </a:ln>
                <a:solidFill>
                  <a:srgbClr val="65717A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中级计量经济学 · 第一讲</a:t>
            </a:r>
            <a:endParaRPr kumimoji="0" lang="en-US" sz="8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740896" y="6537960"/>
            <a:ext cx="91440" cy="91440"/>
          </a:xfrm>
          <a:prstGeom prst="ellipse">
            <a:avLst/>
          </a:prstGeom>
          <a:solidFill>
            <a:srgbClr val="00A8CC"/>
          </a:solidFill>
          <a:ln w="7620">
            <a:solidFill>
              <a:srgbClr val="00A8CC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406908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学完以后，你应该能够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Ellipse 5"/>
          <p:cNvSpPr/>
          <p:nvPr/>
        </p:nvSpPr>
        <p:spPr>
          <a:xfrm>
            <a:off x="1352550" y="1504949"/>
            <a:ext cx="342900" cy="342900"/>
          </a:xfrm>
          <a:prstGeom prst="ellipse">
            <a:avLst/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454582" y="1573053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47469" y="1561147"/>
            <a:ext cx="185737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读懂基本回归表</a:t>
            </a:r>
          </a:p>
        </p:txBody>
      </p:sp>
      <p:sp>
        <p:nvSpPr>
          <p:cNvPr id="8" name="Ellipse 8"/>
          <p:cNvSpPr/>
          <p:nvPr/>
        </p:nvSpPr>
        <p:spPr>
          <a:xfrm>
            <a:off x="1352550" y="2314574"/>
            <a:ext cx="342900" cy="342900"/>
          </a:xfrm>
          <a:prstGeom prst="ellipse">
            <a:avLst/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454582" y="2382678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7469" y="2370771"/>
            <a:ext cx="31699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判断一种计量方法是否适用</a:t>
            </a:r>
          </a:p>
        </p:txBody>
      </p:sp>
      <p:sp>
        <p:nvSpPr>
          <p:cNvPr id="11" name="Ellipse 11"/>
          <p:cNvSpPr/>
          <p:nvPr/>
        </p:nvSpPr>
        <p:spPr>
          <a:xfrm>
            <a:off x="1352550" y="3124199"/>
            <a:ext cx="342900" cy="342900"/>
          </a:xfrm>
          <a:prstGeom prst="ellipse">
            <a:avLst/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454582" y="3192303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47469" y="3180397"/>
            <a:ext cx="395744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发现明显的数据、模型和解释问题</a:t>
            </a:r>
          </a:p>
        </p:txBody>
      </p:sp>
      <p:sp>
        <p:nvSpPr>
          <p:cNvPr id="14" name="Ellipse 14"/>
          <p:cNvSpPr/>
          <p:nvPr/>
        </p:nvSpPr>
        <p:spPr>
          <a:xfrm>
            <a:off x="1352550" y="3933824"/>
            <a:ext cx="342900" cy="342900"/>
          </a:xfrm>
          <a:prstGeom prst="ellipse">
            <a:avLst/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454582" y="4001928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47469" y="3990021"/>
            <a:ext cx="418740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使用软件和 AI Agent 完成基础分析</a:t>
            </a:r>
          </a:p>
        </p:txBody>
      </p:sp>
      <p:sp>
        <p:nvSpPr>
          <p:cNvPr id="17" name="Ellipse 17"/>
          <p:cNvSpPr/>
          <p:nvPr/>
        </p:nvSpPr>
        <p:spPr>
          <a:xfrm>
            <a:off x="1352550" y="4743449"/>
            <a:ext cx="342900" cy="342900"/>
          </a:xfrm>
          <a:prstGeom prst="ellipse">
            <a:avLst/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1454582" y="4811553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47469" y="4799647"/>
            <a:ext cx="395744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完成一项结构基本完整的实证研究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27170" y="5520690"/>
            <a:ext cx="41376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A8CC"/>
                </a:solidFill>
                <a:latin typeface="Arial"/>
                <a:ea typeface="Microsoft YaHei"/>
                <a:cs typeface="Arial"/>
              </a:rPr>
              <a:t>最后一级连接「毕业论文与研究能力」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33 / 43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32613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这是一门什么课？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322832" y="1678305"/>
            <a:ext cx="807913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淡化：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9344" y="2123122"/>
            <a:ext cx="21198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strike="sngStrike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不是纯数学推导课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9344" y="2599372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strike="sngStrike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不是软件命令培训班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09344" y="3075622"/>
            <a:ext cx="31699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strike="sngStrike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不是追求显著结果的技巧课</a:t>
            </a:r>
          </a:p>
        </p:txBody>
      </p:sp>
      <p:sp>
        <p:nvSpPr>
          <p:cNvPr id="9" name="Rectangle 9"/>
          <p:cNvSpPr/>
          <p:nvPr/>
        </p:nvSpPr>
        <p:spPr>
          <a:xfrm>
            <a:off x="1333500" y="3905250"/>
            <a:ext cx="952500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1333500" y="3905250"/>
            <a:ext cx="57150" cy="85725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606296" y="4153852"/>
            <a:ext cx="565610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这是一门 AI 原生的应用计量课程。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818" y="5139690"/>
            <a:ext cx="106783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教材提供基本主线 · 课堂训练结果判断 · Agent 协助学习和研究 · 人负责问题、识别、核验和结论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34 / 43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28575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教材是课程主线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1333500" y="1524000"/>
            <a:ext cx="9525000" cy="457200"/>
          </a:xfrm>
          <a:prstGeom prst="roundRect">
            <a:avLst>
              <a:gd name="adj" fmla="val 12500"/>
            </a:avLst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610106" y="1634490"/>
            <a:ext cx="302664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阶段 · 教材章节 · 主要任务</a:t>
            </a:r>
          </a:p>
        </p:txBody>
      </p:sp>
      <p:sp>
        <p:nvSpPr>
          <p:cNvPr id="7" name="Rectangle 7"/>
          <p:cNvSpPr/>
          <p:nvPr/>
        </p:nvSpPr>
        <p:spPr>
          <a:xfrm>
            <a:off x="1333500" y="2190750"/>
            <a:ext cx="9525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610106" y="2348865"/>
            <a:ext cx="184665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基础回归</a:t>
            </a:r>
            <a:r>
              <a:rPr lang="zh-CN" altLang="en-US" sz="18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（复习）</a:t>
            </a:r>
            <a:endParaRPr lang="zh-CN" sz="1800" b="1" dirty="0">
              <a:solidFill>
                <a:srgbClr val="003153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903345" y="2347627"/>
            <a:ext cx="104813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第 1—5 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06618" y="2365058"/>
            <a:ext cx="33486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回归、推断、函数形式和模型诊断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333500" y="2876550"/>
            <a:ext cx="9525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610106" y="3034665"/>
            <a:ext cx="184665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方法拓展</a:t>
            </a:r>
            <a:r>
              <a:rPr lang="zh-CN" altLang="en-US" sz="18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（核心）</a:t>
            </a:r>
            <a:endParaRPr lang="zh-CN" sz="1800" b="1" dirty="0">
              <a:solidFill>
                <a:srgbClr val="003153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934601" y="2997142"/>
            <a:ext cx="118140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第 6—10 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06618" y="3050858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离散选择、面板数据、工具变量和因果推断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333500" y="3562350"/>
            <a:ext cx="9525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610106" y="3720465"/>
            <a:ext cx="184665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实证研究</a:t>
            </a:r>
            <a:r>
              <a:rPr lang="zh-CN" altLang="en-US" sz="18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（目的）</a:t>
            </a:r>
            <a:endParaRPr lang="zh-CN" sz="1800" b="1" dirty="0">
              <a:solidFill>
                <a:srgbClr val="003153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979407" y="3672078"/>
            <a:ext cx="13146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第 11—14 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06618" y="3736658"/>
            <a:ext cx="401497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研究问题、数据、模型、结果与论文表达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02955" y="5155882"/>
            <a:ext cx="5386091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课堂基本按照教材顺序进行，方便预习和复习。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35 / 43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292608"/>
            <a:ext cx="1122680" cy="347472"/>
          </a:xfrm>
          <a:prstGeom prst="roundRect">
            <a:avLst/>
          </a:prstGeom>
          <a:solidFill>
            <a:srgbClr val="DDF3F7"/>
          </a:solidFill>
          <a:ln w="12700">
            <a:solidFill>
              <a:srgbClr val="DDF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01752"/>
            <a:ext cx="1122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949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把 AI 变成你的学习搭档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80160"/>
            <a:ext cx="10972800" cy="0"/>
          </a:xfrm>
          <a:prstGeom prst="line">
            <a:avLst/>
          </a:prstGeom>
          <a:ln w="19050">
            <a:solidFill>
              <a:srgbClr val="00A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6528816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5717A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中级计量经济学 · 第一讲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37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691640"/>
            <a:ext cx="2468880" cy="2834640"/>
          </a:xfrm>
          <a:prstGeom prst="roundRect">
            <a:avLst/>
          </a:prstGeom>
          <a:solidFill>
            <a:srgbClr val="E5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783080" y="1874519"/>
            <a:ext cx="384048" cy="384048"/>
          </a:xfrm>
          <a:prstGeom prst="ellipse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95728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预习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003153"/>
              </a:solidFill>
              <a:effectLst/>
              <a:uLnTx/>
              <a:uFillTx/>
              <a:latin typeface="Arial Unicode MS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" y="2907792"/>
            <a:ext cx="20665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0242A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让 Agent 讲教材、补基础、解释概念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5263" y="2926080"/>
            <a:ext cx="45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1691640"/>
            <a:ext cx="2468880" cy="2834640"/>
          </a:xfrm>
          <a:prstGeom prst="roundRect">
            <a:avLst/>
          </a:prstGeom>
          <a:solidFill>
            <a:srgbClr val="E5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526279" y="1874519"/>
            <a:ext cx="384048" cy="384048"/>
          </a:xfrm>
          <a:prstGeom prst="ellipse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79" y="2395728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课堂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7" y="2907792"/>
            <a:ext cx="20665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0242A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看表判断、与 Agent 比较答案（人为主）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2926080"/>
            <a:ext cx="45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691640"/>
            <a:ext cx="2468880" cy="2834640"/>
          </a:xfrm>
          <a:prstGeom prst="roundRect">
            <a:avLst/>
          </a:prstGeom>
          <a:solidFill>
            <a:srgbClr val="E5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269479" y="1874519"/>
            <a:ext cx="384048" cy="384048"/>
          </a:xfrm>
          <a:prstGeom prst="ellipse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395728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实践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2907792"/>
            <a:ext cx="20665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0242A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让 Agent 跑代码、做分析、出图表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1663" y="2926080"/>
            <a:ext cx="45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1691640"/>
            <a:ext cx="2468880" cy="2834640"/>
          </a:xfrm>
          <a:prstGeom prst="roundRect">
            <a:avLst/>
          </a:prstGeom>
          <a:solidFill>
            <a:srgbClr val="E5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012680" y="1874519"/>
            <a:ext cx="384048" cy="384048"/>
          </a:xfrm>
          <a:prstGeom prst="ellipse">
            <a:avLst/>
          </a:prstGeom>
          <a:solidFill>
            <a:srgbClr val="00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395728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003153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复盘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2907792"/>
            <a:ext cx="2066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0242A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让 Agent 出题自测、诊断薄弱点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FBE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4400" y="50566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C96B36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重复劳动交给 Agent，判断留给自己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考核方式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/>
          <p:nvPr/>
        </p:nvSpPr>
        <p:spPr>
          <a:xfrm>
            <a:off x="1333500" y="2286000"/>
            <a:ext cx="2857500" cy="1047750"/>
          </a:xfrm>
          <a:prstGeom prst="rect">
            <a:avLst/>
          </a:prstGeom>
          <a:solidFill>
            <a:srgbClr val="00315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802939" y="2522266"/>
            <a:ext cx="1000274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项目报告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14535" y="2851830"/>
            <a:ext cx="577082" cy="3462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2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sz="2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8" name="Rectangle 8"/>
          <p:cNvSpPr/>
          <p:nvPr/>
        </p:nvSpPr>
        <p:spPr>
          <a:xfrm>
            <a:off x="3262387" y="2286000"/>
            <a:ext cx="1881113" cy="104775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755713" y="2522266"/>
            <a:ext cx="1000274" cy="300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课堂汇报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67310" y="2851830"/>
            <a:ext cx="577082" cy="3462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2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20%</a:t>
            </a:r>
            <a:endParaRPr lang="en-US" sz="22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5143500" y="2286000"/>
            <a:ext cx="5715000" cy="1047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7203567" y="2551748"/>
            <a:ext cx="15948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期末闭卷考试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95383" y="2881312"/>
            <a:ext cx="61123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11527" y="4203382"/>
            <a:ext cx="756894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期末不要求携带电脑，重点考查陌生案例、回归表和软件输出的理解与判断。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44265" y="4679632"/>
            <a:ext cx="490347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A6570"/>
                </a:solidFill>
                <a:latin typeface="Arial"/>
                <a:ea typeface="Microsoft YaHei"/>
                <a:cs typeface="Arial"/>
              </a:rPr>
              <a:t>正常出勤不额外加分，无故缺勤按课程规定扣分。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40 / 43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本讲总结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Ellipse 5"/>
          <p:cNvSpPr/>
          <p:nvPr/>
        </p:nvSpPr>
        <p:spPr>
          <a:xfrm>
            <a:off x="1371600" y="1803885"/>
            <a:ext cx="304800" cy="3048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464665" y="1877227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47469" y="1841033"/>
            <a:ext cx="34324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常识往往是被压缩的科学知识</a:t>
            </a:r>
          </a:p>
        </p:txBody>
      </p:sp>
      <p:sp>
        <p:nvSpPr>
          <p:cNvPr id="8" name="Ellipse 8"/>
          <p:cNvSpPr/>
          <p:nvPr/>
        </p:nvSpPr>
        <p:spPr>
          <a:xfrm>
            <a:off x="1371600" y="2489685"/>
            <a:ext cx="304800" cy="3048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464665" y="2563027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7469" y="2526833"/>
            <a:ext cx="526999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数据需要模型、背景知识和假设才能成为知识</a:t>
            </a:r>
          </a:p>
        </p:txBody>
      </p:sp>
      <p:sp>
        <p:nvSpPr>
          <p:cNvPr id="11" name="Ellipse 11"/>
          <p:cNvSpPr/>
          <p:nvPr/>
        </p:nvSpPr>
        <p:spPr>
          <a:xfrm>
            <a:off x="1371600" y="3175485"/>
            <a:ext cx="304800" cy="3048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464665" y="3248827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47469" y="3212633"/>
            <a:ext cx="500748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计量经济学帮助我们建立可以检查的证据链</a:t>
            </a:r>
          </a:p>
        </p:txBody>
      </p:sp>
      <p:sp>
        <p:nvSpPr>
          <p:cNvPr id="14" name="Ellipse 14"/>
          <p:cNvSpPr/>
          <p:nvPr/>
        </p:nvSpPr>
        <p:spPr>
          <a:xfrm>
            <a:off x="1371600" y="3861285"/>
            <a:ext cx="304800" cy="30480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464665" y="3934627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47469" y="3898433"/>
            <a:ext cx="5182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AI Agent 正在降低数据、计算和表达的成本</a:t>
            </a:r>
          </a:p>
        </p:txBody>
      </p:sp>
      <p:sp>
        <p:nvSpPr>
          <p:cNvPr id="17" name="Ellipse 17"/>
          <p:cNvSpPr/>
          <p:nvPr/>
        </p:nvSpPr>
        <p:spPr>
          <a:xfrm>
            <a:off x="1371600" y="4547085"/>
            <a:ext cx="304800" cy="3048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1464665" y="4620427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47469" y="4584233"/>
            <a:ext cx="553250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人需要走向更高层次的问题、识别、判断和责任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333500" y="5715000"/>
            <a:ext cx="95250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21"/>
          <p:cNvSpPr/>
          <p:nvPr/>
        </p:nvSpPr>
        <p:spPr>
          <a:xfrm>
            <a:off x="1333500" y="5715000"/>
            <a:ext cx="57150" cy="666750"/>
          </a:xfrm>
          <a:prstGeom prst="rect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1589532" y="5916930"/>
            <a:ext cx="969553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AI Agent 让获得结果变得容易；计量经济学让判断结果是否可信成为可能。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42 / 43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66750" y="571500"/>
            <a:ext cx="57150" cy="38100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842010" y="5524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下期预告</a:t>
            </a:r>
          </a:p>
        </p:txBody>
      </p:sp>
      <p:sp>
        <p:nvSpPr>
          <p:cNvPr id="4" name="Line 4"/>
          <p:cNvSpPr/>
          <p:nvPr/>
        </p:nvSpPr>
        <p:spPr>
          <a:xfrm>
            <a:off x="666750" y="1123950"/>
            <a:ext cx="10858500" cy="9525"/>
          </a:xfrm>
          <a:custGeom>
            <a:avLst/>
            <a:gdLst/>
            <a:ahLst/>
            <a:cxnLst/>
            <a:rect l="l" t="t" r="r" b="b"/>
            <a:pathLst>
              <a:path w="10858500" h="9525">
                <a:moveTo>
                  <a:pt x="0" y="0"/>
                </a:moveTo>
                <a:lnTo>
                  <a:pt x="10858500" y="0"/>
                </a:lnTo>
              </a:path>
            </a:pathLst>
          </a:custGeom>
          <a:noFill/>
          <a:ln w="9525">
            <a:solidFill>
              <a:srgbClr val="D8D4C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2633515" y="1581150"/>
            <a:ext cx="6924973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下一讲</a:t>
            </a:r>
            <a:r>
              <a:rPr lang="zh-CN" altLang="en-US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（复习）</a:t>
            </a:r>
            <a:r>
              <a:rPr lang="zh-CN" sz="3000" b="1" dirty="0">
                <a:solidFill>
                  <a:srgbClr val="003153"/>
                </a:solidFill>
                <a:latin typeface="Arial"/>
                <a:ea typeface="Microsoft YaHei"/>
                <a:cs typeface="Arial"/>
              </a:rPr>
              <a:t>：从一群散点到一条直线</a:t>
            </a:r>
          </a:p>
        </p:txBody>
      </p:sp>
      <p:sp>
        <p:nvSpPr>
          <p:cNvPr id="6" name="Ellipse 6"/>
          <p:cNvSpPr/>
          <p:nvPr/>
        </p:nvSpPr>
        <p:spPr>
          <a:xfrm>
            <a:off x="2781300" y="2609850"/>
            <a:ext cx="152400" cy="1524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3084957" y="2535555"/>
            <a:ext cx="1615827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什么是回归？</a:t>
            </a:r>
            <a:endParaRPr lang="zh-CN" sz="2100" dirty="0">
              <a:solidFill>
                <a:srgbClr val="20242A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8" name="Ellipse 8"/>
          <p:cNvSpPr/>
          <p:nvPr/>
        </p:nvSpPr>
        <p:spPr>
          <a:xfrm>
            <a:off x="2781300" y="3324225"/>
            <a:ext cx="152400" cy="1524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084957" y="3249930"/>
            <a:ext cx="3770263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如何得到回归线？（参数估计）</a:t>
            </a:r>
            <a:endParaRPr lang="zh-CN" sz="2100" dirty="0">
              <a:solidFill>
                <a:srgbClr val="20242A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0" name="Ellipse 10"/>
          <p:cNvSpPr/>
          <p:nvPr/>
        </p:nvSpPr>
        <p:spPr>
          <a:xfrm>
            <a:off x="2781300" y="4038600"/>
            <a:ext cx="152400" cy="152400"/>
          </a:xfrm>
          <a:prstGeom prst="ellipse">
            <a:avLst/>
          </a:prstGeom>
          <a:solidFill>
            <a:srgbClr val="C96B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3084957" y="3964305"/>
            <a:ext cx="4578176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100" dirty="0">
                <a:solidFill>
                  <a:srgbClr val="20242A"/>
                </a:solidFill>
                <a:latin typeface="Arial"/>
                <a:ea typeface="Microsoft YaHei"/>
                <a:cs typeface="Arial"/>
              </a:rPr>
              <a:t>得到的回归线是否靠谱？（假设检验）</a:t>
            </a:r>
            <a:endParaRPr lang="zh-CN" sz="2100" dirty="0">
              <a:solidFill>
                <a:srgbClr val="20242A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79351" y="4999851"/>
            <a:ext cx="9233297" cy="7816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Arial"/>
                <a:ea typeface="Microsoft YaHei"/>
                <a:cs typeface="Arial"/>
              </a:rPr>
              <a:t>请提前阅读飞书文档第二讲的本讲指南，并翻阅教材</a:t>
            </a:r>
            <a:r>
              <a:rPr lang="en-US" altLang="zh-CN" sz="1800" b="1" dirty="0">
                <a:solidFill>
                  <a:srgbClr val="FF0000"/>
                </a:solidFill>
                <a:latin typeface="Arial"/>
                <a:ea typeface="Microsoft YaHei"/>
                <a:cs typeface="Arial"/>
              </a:rPr>
              <a:t>2-3</a:t>
            </a:r>
            <a:r>
              <a:rPr lang="zh-CN" altLang="en-US" sz="1800" b="1" dirty="0">
                <a:solidFill>
                  <a:srgbClr val="FF0000"/>
                </a:solidFill>
                <a:latin typeface="Arial"/>
                <a:ea typeface="Microsoft YaHei"/>
                <a:cs typeface="Arial"/>
              </a:rPr>
              <a:t>章进行复习。</a:t>
            </a:r>
            <a:endParaRPr lang="en-US" altLang="zh-CN" sz="1800" b="1" dirty="0">
              <a:solidFill>
                <a:srgbClr val="FF0000"/>
              </a:solidFill>
              <a:latin typeface="Arial"/>
              <a:ea typeface="Microsoft YaHei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Arial"/>
                <a:ea typeface="Microsoft YaHei"/>
                <a:cs typeface="Arial"/>
              </a:rPr>
              <a:t>请提前阅读飞书文档</a:t>
            </a:r>
            <a:r>
              <a:rPr lang="en-US" altLang="zh-CN" b="1" dirty="0">
                <a:solidFill>
                  <a:srgbClr val="FF0000"/>
                </a:solidFill>
                <a:latin typeface="Arial"/>
                <a:ea typeface="Microsoft YaHei"/>
                <a:cs typeface="Arial"/>
              </a:rPr>
              <a:t>《</a:t>
            </a:r>
            <a:r>
              <a:rPr lang="zh-CN" altLang="en-US" b="1" dirty="0">
                <a:solidFill>
                  <a:srgbClr val="FF0000"/>
                </a:solidFill>
                <a:latin typeface="Arial"/>
                <a:ea typeface="Microsoft YaHei"/>
                <a:cs typeface="Arial"/>
              </a:rPr>
              <a:t>课前必读｜环境配置与</a:t>
            </a:r>
            <a:r>
              <a:rPr lang="en-US" altLang="zh-CN" b="1" dirty="0">
                <a:solidFill>
                  <a:srgbClr val="FF0000"/>
                </a:solidFill>
                <a:latin typeface="Arial"/>
                <a:ea typeface="Microsoft YaHei"/>
                <a:cs typeface="Arial"/>
              </a:rPr>
              <a:t>AI</a:t>
            </a:r>
            <a:r>
              <a:rPr lang="zh-CN" altLang="en-US" b="1" dirty="0">
                <a:solidFill>
                  <a:srgbClr val="FF0000"/>
                </a:solidFill>
                <a:latin typeface="Arial"/>
                <a:ea typeface="Microsoft YaHei"/>
                <a:cs typeface="Arial"/>
              </a:rPr>
              <a:t>学习工作流</a:t>
            </a:r>
            <a:r>
              <a:rPr lang="en-US" altLang="zh-CN" b="1" dirty="0">
                <a:solidFill>
                  <a:srgbClr val="FF0000"/>
                </a:solidFill>
                <a:latin typeface="Arial"/>
                <a:ea typeface="Microsoft YaHei"/>
                <a:cs typeface="Arial"/>
              </a:rPr>
              <a:t>》</a:t>
            </a:r>
            <a:r>
              <a:rPr lang="zh-CN" altLang="en-US" b="1" dirty="0">
                <a:solidFill>
                  <a:srgbClr val="FF0000"/>
                </a:solidFill>
                <a:latin typeface="Arial"/>
                <a:ea typeface="Microsoft YaHei"/>
                <a:cs typeface="Arial"/>
              </a:rPr>
              <a:t>并在自己电脑配置相应环境。</a:t>
            </a:r>
            <a:endParaRPr lang="en-US" altLang="zh-CN" b="1" dirty="0">
              <a:solidFill>
                <a:srgbClr val="FF0000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977982" y="649033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A79F90"/>
                </a:solidFill>
                <a:latin typeface="Arial"/>
                <a:ea typeface="Arial"/>
                <a:cs typeface="Arial"/>
              </a:rPr>
              <a:t>43 / 43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0654" y="6490335"/>
            <a:ext cx="1813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79F90"/>
                </a:solidFill>
                <a:latin typeface="Arial"/>
                <a:ea typeface="Microsoft YaHei"/>
                <a:cs typeface="Arial"/>
              </a:rPr>
              <a:t>中级计量经济学 · 第一讲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中级计量第一讲">
  <a:themeElements>
    <a:clrScheme name="中级计量第一讲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中级计量第一讲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中级计量第一讲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中级计量第一讲">
  <a:themeElements>
    <a:clrScheme name="中级计量第一讲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中级计量第一讲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中级计量第一讲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2871</Words>
  <Application>Microsoft Macintosh PowerPoint</Application>
  <PresentationFormat>宽屏</PresentationFormat>
  <Paragraphs>527</Paragraphs>
  <Slides>40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SimSun</vt:lpstr>
      <vt:lpstr>Arial Unicode MS</vt:lpstr>
      <vt:lpstr>Arial</vt:lpstr>
      <vt:lpstr>Calibri</vt:lpstr>
      <vt:lpstr>Cambria Math</vt:lpstr>
      <vt:lpstr>中级计量第一讲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呈磊 张</cp:lastModifiedBy>
  <cp:revision>10</cp:revision>
  <dcterms:created xsi:type="dcterms:W3CDTF">2026-09-06T04:09:10Z</dcterms:created>
  <dcterms:modified xsi:type="dcterms:W3CDTF">2026-09-11T12:55:09Z</dcterms:modified>
  <cp:category/>
  <cp:contentStatus/>
  <dc:language/>
</cp:coreProperties>
</file>